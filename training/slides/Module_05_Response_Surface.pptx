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0" y="0"/>
            <a:ext cx="3200400" cy="6858000"/>
          </a:xfrm>
          <a:prstGeom prst="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0" y="0"/>
            <a:ext cx="3047695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6366F1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914400" y="3657600"/>
            <a:ext cx="3657600" cy="3657600"/>
          </a:xfrm>
          <a:prstGeom prst="ellipse">
            <a:avLst/>
          </a:prstGeom>
          <a:solidFill>
            <a:srgbClr val="5046E5">
              <a:lumMod val="60000"/>
              <a:lumOff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1371600"/>
            <a:ext cx="2377440" cy="438912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>
              <a:defRPr sz="1400" b="1">
                <a:solidFill>
                  <a:srgbClr val="C7D2FE"/>
                </a:solidFill>
                <a:latin typeface="Consolas"/>
              </a:defRPr>
            </a:pPr>
            <a:r>
              <a:t>MODULE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Inter"/>
              </a:defRPr>
            </a:pPr>
            <a:r>
              <a:t>Response Surface</a:t>
            </a:r>
            <a:br/>
            <a:r>
              <a:t>Designs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8686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A5B4FC"/>
                </a:solidFill>
                <a:latin typeface="Inter"/>
              </a:defRPr>
            </a:pPr>
            <a:r>
              <a:t>Modeling curved relationships and finding optimal settings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366F1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36576" cy="5029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241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Understand when you need response surface methodology (RSM)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Learn Central Composite Design (CCD) and Box-Behnken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Use Latin Hypercube Sampling for space-filling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Generate RSM designs with doe-helper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Interpret 3D surface plots and contour plots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Use doe optimize to find optimal factor settings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36576" cy="5029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When to Move Beyond Screening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241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Screening identified the vital few factors (typically 2–4)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Center points showed evidence of curvature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You need to find the optimum, not just know what matters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RSM fits a quadratic model: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y = b₀ + b₁x₁ + b₂x₂ + b₁₂x₁x₂ + b₁₁x₁² + b₂₂x₂²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This captures curves, ridges, saddle points, and optima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36576" cy="5029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CCD vs. Box-Behnken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03520" cy="493776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36576" cy="49377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25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A34A"/>
                </a:solidFill>
                <a:latin typeface="Consolas"/>
              </a:defRPr>
            </a:pPr>
            <a:r>
              <a:t>CCD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Central Composite Design (CCD)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Three components: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  • 2ᵏ factorial corner points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  • 2k star (axial) points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  • 3–6 center point replicates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3 factors: 8+6+6 = 20 runs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Can be built sequentially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Includes extreme corners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303520" cy="4937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188720"/>
            <a:ext cx="36576" cy="493776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325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046E5"/>
                </a:solidFill>
                <a:latin typeface="Consolas"/>
              </a:defRPr>
            </a:pPr>
            <a:r>
              <a:t>BOX-BEHNKEN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7373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Box-Behnken Design (BBD)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Does NOT include corner points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Good when extremes are costly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or dangerous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3 factors: 15 runs (vs. 20 CCD)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4 factors: 27 runs (vs. 30 CCD)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Slightly less information than CCD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but often sufficient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11111"/>
                </a:solidFill>
                <a:latin typeface="Inter"/>
              </a:defRPr>
            </a:pPr>
            <a:r>
              <a:t>CCD with doe-helper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0972800" cy="32004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3657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terminal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0972800" cy="4389120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 rIns="274320"/>
          <a:lstStyle/>
          <a:p>
            <a:pPr algn="ctr"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"factors": {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"temperature": {"low": 150, "high": 200, "units": "C"},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"pressure":    {"low": 1.0, "high": 5.0, "units": "bar"},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"catalyst":    {"low": 0.5, "high": 1.5, "units": "g"}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},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"responses": {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"yield":  {"units": "%", "target": "maximize"},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"purity": {"units": "%", "target": "maximize"}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},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"design": {"type": "ccd", "center_points": 6}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500">
                <a:solidFill>
                  <a:srgbClr val="6EC86E"/>
                </a:solidFill>
                <a:latin typeface="Consolas"/>
              </a:defRPr>
            </a:pPr>
            <a:r>
              <a:t>$ doe generate reactor_rsm/</a:t>
            </a:r>
          </a:p>
          <a:p>
            <a:pPr>
              <a:spcAft>
                <a:spcPts val="100"/>
              </a:spcAft>
              <a:defRPr sz="1500">
                <a:solidFill>
                  <a:srgbClr val="6EC86E"/>
                </a:solidFill>
                <a:latin typeface="Consolas"/>
              </a:defRPr>
            </a:pPr>
            <a:r>
              <a:t>$ doe info reactor_rsm/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Type: ccd  |  Runs: 20  |  Factors: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36576" cy="5029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Latin Hypercube Sampling &amp; Design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241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LHS: space-filling design, not model-based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Samples spread evenly across the entire factor space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Good for computer experiments and simulations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doe-helper: "type": "latin_hypercube", "runs": N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Design selection guide: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2–3 factors, need optimum → CCD or Box-Behnken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Avoid extreme corners → Box-Behnken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Unknown model, simulation → Latin Hypercube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Constrained factor space → D-Optimal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11111"/>
                </a:solidFill>
                <a:latin typeface="Inter"/>
              </a:defRPr>
            </a:pPr>
            <a:r>
              <a:t>Optimization with doe-helper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0972800" cy="32004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3657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terminal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0972800" cy="3931920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 rIns="274320"/>
          <a:lstStyle/>
          <a:p>
            <a:pPr algn="ctr">
              <a:spcAft>
                <a:spcPts val="100"/>
              </a:spcAft>
              <a:defRPr sz="1500">
                <a:solidFill>
                  <a:srgbClr val="6EC86E"/>
                </a:solidFill>
                <a:latin typeface="Consolas"/>
              </a:defRPr>
            </a:pPr>
            <a:r>
              <a:t>$ doe optimize reactor_rsm/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Optimization Results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Method: L-BFGS-B with 20 random restarts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Optimal Settings: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temperature: 182.3 C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pressure:    3.8 bar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catalyst:    1.2 g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Predicted Responses: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yield:  94.2%  (target: maximize)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purity: 98.7%  (target: maximize)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Desirability: 0.93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49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Inter"/>
              </a:defRPr>
            </a:pPr>
            <a:r>
              <a:t>doe optimize uses scipy.optimize with multi-start for global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36576" cy="5029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Steepest Ascent / Descent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241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Sequential experimentation strategy: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Start with factorial near current operating settings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Fit a linear model to identify the steepest ascent direction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Run experiments along this path until response plateaus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Run a new RSM design at the plateau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doe-helper computes the steepest ascent path automatically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Efficient when you're far from the optimum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0"/>
            <a:ext cx="4572000" cy="6858000"/>
          </a:xfrm>
          <a:prstGeom prst="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0" y="0"/>
            <a:ext cx="3962095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Inter"/>
              </a:defRPr>
            </a:pPr>
            <a:r>
              <a:t>Key Takeaways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10515600" cy="77724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508760"/>
            <a:ext cx="320040" cy="320040"/>
          </a:xfrm>
          <a:prstGeom prst="ellipse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325880"/>
            <a:ext cx="9418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Inter"/>
              </a:defRPr>
            </a:pPr>
            <a:r>
              <a:t>RSM fits quadratic models to find optima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67128"/>
            <a:ext cx="10515600" cy="77724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395728"/>
            <a:ext cx="320040" cy="320040"/>
          </a:xfrm>
          <a:prstGeom prst="ellipse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212848"/>
            <a:ext cx="9418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Inter"/>
              </a:defRPr>
            </a:pPr>
            <a:r>
              <a:t>CCD is the workhorse; Box-Behnken avoids extremes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54096"/>
            <a:ext cx="10515600" cy="77724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3282696"/>
            <a:ext cx="320040" cy="320040"/>
          </a:xfrm>
          <a:prstGeom prst="ellipse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3099816"/>
            <a:ext cx="9418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Inter"/>
              </a:defRPr>
            </a:pPr>
            <a:r>
              <a:t>LHS for space-filling when the model is unknown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41064"/>
            <a:ext cx="10515600" cy="77724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05840" y="4169664"/>
            <a:ext cx="320040" cy="320040"/>
          </a:xfrm>
          <a:prstGeom prst="ellipse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3986784"/>
            <a:ext cx="9418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Inter"/>
              </a:defRPr>
            </a:pPr>
            <a:r>
              <a:t>doe optimize uses L-BFGS-B with multi-start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28032"/>
            <a:ext cx="10515600" cy="77724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056632"/>
            <a:ext cx="320040" cy="320040"/>
          </a:xfrm>
          <a:prstGeom prst="ellipse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4873752"/>
            <a:ext cx="9418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Inter"/>
              </a:defRPr>
            </a:pPr>
            <a:r>
              <a:t>Steepest ascent helps when you're far from the optimum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366F1"/>
                </a:solidFill>
                <a:latin typeface="Consolas"/>
              </a:defRPr>
            </a:pPr>
            <a:r>
              <a:t>© 2026 Martin J. Gallagher  |  GPL-3.0-or-later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2194560" cy="45720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onsolas"/>
              </a:defRPr>
            </a:pPr>
            <a:r>
              <a:t>HANDS-ON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11111"/>
                </a:solidFill>
                <a:latin typeface="Inter"/>
              </a:defRPr>
            </a:pPr>
            <a:r>
              <a:t>Exercise 5: Response Surface Optimisation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05840"/>
            <a:ext cx="10972800" cy="512064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36576" cy="5120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43000"/>
            <a:ext cx="10424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1. Create a reactor experiment with 3 factors, type "ccd"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2. Run:  doe generate reactor_rsm/</a:t>
            </a:r>
          </a:p>
          <a:p>
            <a:pPr lvl="1">
              <a:spcAft>
                <a:spcPts val="500"/>
              </a:spcAft>
              <a:defRPr sz="1500">
                <a:solidFill>
                  <a:srgbClr val="666666"/>
                </a:solidFill>
                <a:latin typeface="Inter"/>
              </a:defRPr>
            </a:pPr>
            <a:r>
              <a:t>How many runs? What's the structure?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3. Run the simulation:  bash reactor_rsm/run.sh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4. Run:  doe analyze reactor_rsm/</a:t>
            </a:r>
          </a:p>
          <a:p>
            <a:pPr lvl="1">
              <a:spcAft>
                <a:spcPts val="500"/>
              </a:spcAft>
              <a:defRPr sz="1500">
                <a:solidFill>
                  <a:srgbClr val="666666"/>
                </a:solidFill>
                <a:latin typeface="Inter"/>
              </a:defRPr>
            </a:pPr>
            <a:r>
              <a:t>Look at the response surface plots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5. Run:  doe optimize reactor_rsm/</a:t>
            </a:r>
          </a:p>
          <a:p>
            <a:pPr lvl="1">
              <a:spcAft>
                <a:spcPts val="500"/>
              </a:spcAft>
              <a:defRPr sz="1500">
                <a:solidFill>
                  <a:srgbClr val="666666"/>
                </a:solidFill>
                <a:latin typeface="Inter"/>
              </a:defRPr>
            </a:pPr>
            <a:r>
              <a:t>What are the recommended optimal settings?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6. Try Box-Behnken: change type, repeat</a:t>
            </a:r>
          </a:p>
          <a:p>
            <a:pPr lvl="1">
              <a:spcAft>
                <a:spcPts val="500"/>
              </a:spcAft>
              <a:defRPr sz="1500">
                <a:solidFill>
                  <a:srgbClr val="666666"/>
                </a:solidFill>
                <a:latin typeface="Inter"/>
              </a:defRPr>
            </a:pPr>
            <a:r>
              <a:t>Compare run count and optimal settings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