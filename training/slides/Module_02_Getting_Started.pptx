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7BFF"/>
                </a:solidFill>
                <a:latin typeface="Calibri"/>
              </a:defRPr>
            </a:pPr>
            <a:r>
              <a:t>MODULE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  <a:latin typeface="Calibri"/>
              </a:defRPr>
            </a:pPr>
            <a:r>
              <a:t>Getting Started with doe-helper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CCCCCC"/>
                </a:solidFill>
                <a:latin typeface="Calibri"/>
              </a:defRPr>
            </a:pPr>
            <a:r>
              <a:t>Installation, configuration, and your first experiment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1264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888888"/>
                </a:solidFill>
                <a:latin typeface="Calibri"/>
              </a:defRPr>
            </a:pPr>
            <a:r>
              <a:t>Copyright © 2026 Martin J. Gallagher. Licensed under GPL-3.0-or-later.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22222"/>
                </a:solidFill>
                <a:latin typeface="Calibri"/>
              </a:defRPr>
            </a:pPr>
            <a:r>
              <a:t>Learning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0584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 b="0">
                <a:solidFill>
                  <a:srgbClr val="222222"/>
                </a:solidFill>
                <a:latin typeface="Calibri"/>
              </a:defRPr>
            </a:pPr>
            <a:r>
              <a:t>Install doe-helper and verify the setup</a:t>
            </a:r>
          </a:p>
          <a:p>
            <a:pPr>
              <a:spcAft>
                <a:spcPts val="800"/>
              </a:spcAft>
              <a:defRPr sz="2200" b="0">
                <a:solidFill>
                  <a:srgbClr val="222222"/>
                </a:solidFill>
                <a:latin typeface="Calibri"/>
              </a:defRPr>
            </a:pPr>
            <a:r>
              <a:t>Understand the config.json structure</a:t>
            </a:r>
          </a:p>
          <a:p>
            <a:pPr>
              <a:spcAft>
                <a:spcPts val="800"/>
              </a:spcAft>
              <a:defRPr sz="2200" b="0">
                <a:solidFill>
                  <a:srgbClr val="222222"/>
                </a:solidFill>
                <a:latin typeface="Calibri"/>
              </a:defRPr>
            </a:pPr>
            <a:r>
              <a:t>Define factors (continuous, categorical, ordinal)</a:t>
            </a:r>
          </a:p>
          <a:p>
            <a:pPr>
              <a:spcAft>
                <a:spcPts val="800"/>
              </a:spcAft>
              <a:defRPr sz="2200" b="0">
                <a:solidFill>
                  <a:srgbClr val="222222"/>
                </a:solidFill>
                <a:latin typeface="Calibri"/>
              </a:defRPr>
            </a:pPr>
            <a:r>
              <a:t>Define responses and their targets</a:t>
            </a:r>
          </a:p>
          <a:p>
            <a:pPr>
              <a:spcAft>
                <a:spcPts val="800"/>
              </a:spcAft>
              <a:defRPr sz="2200" b="0">
                <a:solidFill>
                  <a:srgbClr val="222222"/>
                </a:solidFill>
                <a:latin typeface="Calibri"/>
              </a:defRPr>
            </a:pPr>
            <a:r>
              <a:t>Configure design settings (randomisation, blocks, replicates)</a:t>
            </a:r>
          </a:p>
          <a:p>
            <a:pPr>
              <a:spcAft>
                <a:spcPts val="800"/>
              </a:spcAft>
              <a:defRPr sz="2200" b="0">
                <a:solidFill>
                  <a:srgbClr val="222222"/>
                </a:solidFill>
                <a:latin typeface="Calibri"/>
              </a:defRPr>
            </a:pPr>
            <a:r>
              <a:t>Use doe init with built-in templates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222222"/>
                </a:solidFill>
                <a:latin typeface="Calibri"/>
              </a:defRPr>
            </a:pPr>
            <a:r>
              <a:t>Installation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0515600" cy="411480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spcAft>
                <a:spcPts val="200"/>
              </a:spcAft>
              <a:defRPr sz="1800">
                <a:solidFill>
                  <a:srgbClr val="D4D4D4"/>
                </a:solidFill>
                <a:latin typeface="Consolas"/>
              </a:defRPr>
            </a:pPr>
            <a:r>
              <a:t># Install from PyPI</a:t>
            </a:r>
          </a:p>
          <a:p>
            <a:pPr>
              <a:spcAft>
                <a:spcPts val="200"/>
              </a:spcAft>
              <a:defRPr sz="1800">
                <a:solidFill>
                  <a:srgbClr val="D4D4D4"/>
                </a:solidFill>
                <a:latin typeface="Consolas"/>
              </a:defRPr>
            </a:pPr>
            <a:r>
              <a:t>$ pip install doehelper</a:t>
            </a:r>
          </a:p>
          <a:p>
            <a:pPr>
              <a:spcAft>
                <a:spcPts val="200"/>
              </a:spcAft>
              <a:defRPr sz="1800">
                <a:solidFill>
                  <a:srgbClr val="D4D4D4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800">
                <a:solidFill>
                  <a:srgbClr val="D4D4D4"/>
                </a:solidFill>
                <a:latin typeface="Consolas"/>
              </a:defRPr>
            </a:pPr>
            <a:r>
              <a:t># Verify installation</a:t>
            </a:r>
          </a:p>
          <a:p>
            <a:pPr>
              <a:spcAft>
                <a:spcPts val="200"/>
              </a:spcAft>
              <a:defRPr sz="1800">
                <a:solidFill>
                  <a:srgbClr val="D4D4D4"/>
                </a:solidFill>
                <a:latin typeface="Consolas"/>
              </a:defRPr>
            </a:pPr>
            <a:r>
              <a:t>$ doe --help</a:t>
            </a:r>
          </a:p>
          <a:p>
            <a:pPr>
              <a:spcAft>
                <a:spcPts val="200"/>
              </a:spcAft>
              <a:defRPr sz="1800">
                <a:solidFill>
                  <a:srgbClr val="D4D4D4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800">
                <a:solidFill>
                  <a:srgbClr val="D4D4D4"/>
                </a:solidFill>
                <a:latin typeface="Consolas"/>
              </a:defRPr>
            </a:pPr>
            <a:r>
              <a:t># Check version</a:t>
            </a:r>
          </a:p>
          <a:p>
            <a:pPr>
              <a:spcAft>
                <a:spcPts val="200"/>
              </a:spcAft>
              <a:defRPr sz="1800">
                <a:solidFill>
                  <a:srgbClr val="D4D4D4"/>
                </a:solidFill>
                <a:latin typeface="Consolas"/>
              </a:defRPr>
            </a:pPr>
            <a:r>
              <a:t>$ doe --version</a:t>
            </a:r>
          </a:p>
          <a:p>
            <a:pPr>
              <a:spcAft>
                <a:spcPts val="200"/>
              </a:spcAft>
              <a:defRPr sz="1800">
                <a:solidFill>
                  <a:srgbClr val="D4D4D4"/>
                </a:solidFill>
                <a:latin typeface="Consolas"/>
              </a:defRPr>
            </a:pPr>
            <a:r>
              <a:t>doehelper 0.1.0</a:t>
            </a:r>
          </a:p>
          <a:p>
            <a:pPr>
              <a:spcAft>
                <a:spcPts val="200"/>
              </a:spcAft>
              <a:defRPr sz="1800">
                <a:solidFill>
                  <a:srgbClr val="D4D4D4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800">
                <a:solidFill>
                  <a:srgbClr val="D4D4D4"/>
                </a:solidFill>
                <a:latin typeface="Consolas"/>
              </a:defRPr>
            </a:pPr>
            <a:r>
              <a:t># System requirements:</a:t>
            </a:r>
          </a:p>
          <a:p>
            <a:pPr>
              <a:spcAft>
                <a:spcPts val="200"/>
              </a:spcAft>
              <a:defRPr sz="1800">
                <a:solidFill>
                  <a:srgbClr val="D4D4D4"/>
                </a:solidFill>
                <a:latin typeface="Consolas"/>
              </a:defRPr>
            </a:pPr>
            <a:r>
              <a:t>#   Python 3.10+</a:t>
            </a:r>
          </a:p>
          <a:p>
            <a:pPr>
              <a:spcAft>
                <a:spcPts val="200"/>
              </a:spcAft>
              <a:defRPr sz="1800">
                <a:solidFill>
                  <a:srgbClr val="D4D4D4"/>
                </a:solidFill>
                <a:latin typeface="Consolas"/>
              </a:defRPr>
            </a:pPr>
            <a:r>
              <a:t>#   Works on Linux, macOS, Windows</a:t>
            </a:r>
          </a:p>
          <a:p>
            <a:pPr>
              <a:spcAft>
                <a:spcPts val="200"/>
              </a:spcAft>
              <a:defRPr sz="1800">
                <a:solidFill>
                  <a:srgbClr val="D4D4D4"/>
                </a:solidFill>
                <a:latin typeface="Consolas"/>
              </a:defRPr>
            </a:pPr>
            <a:r>
              <a:t>#   Dependencies: numpy, pandas, scipy, matplotlib, pyDOE3, Jinja2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222222"/>
                </a:solidFill>
                <a:latin typeface="Calibri"/>
              </a:defRPr>
            </a:pPr>
            <a:r>
              <a:t>Creating Your First Experiment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0515600" cy="411480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spcAft>
                <a:spcPts val="200"/>
              </a:spcAft>
              <a:defRPr sz="1800">
                <a:solidFill>
                  <a:srgbClr val="D4D4D4"/>
                </a:solidFill>
                <a:latin typeface="Consolas"/>
              </a:defRPr>
            </a:pPr>
            <a:r>
              <a:t># Use a built-in template</a:t>
            </a:r>
          </a:p>
          <a:p>
            <a:pPr>
              <a:spcAft>
                <a:spcPts val="200"/>
              </a:spcAft>
              <a:defRPr sz="1800">
                <a:solidFill>
                  <a:srgbClr val="D4D4D4"/>
                </a:solidFill>
                <a:latin typeface="Consolas"/>
              </a:defRPr>
            </a:pPr>
            <a:r>
              <a:t>$ doe init my_experiment --design full_factorial</a:t>
            </a:r>
          </a:p>
          <a:p>
            <a:pPr>
              <a:spcAft>
                <a:spcPts val="200"/>
              </a:spcAft>
              <a:defRPr sz="1800">
                <a:solidFill>
                  <a:srgbClr val="D4D4D4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800">
                <a:solidFill>
                  <a:srgbClr val="D4D4D4"/>
                </a:solidFill>
                <a:latin typeface="Consolas"/>
              </a:defRPr>
            </a:pPr>
            <a:r>
              <a:t># Or start from scratch: create config.json manually</a:t>
            </a:r>
          </a:p>
          <a:p>
            <a:pPr>
              <a:spcAft>
                <a:spcPts val="200"/>
              </a:spcAft>
              <a:defRPr sz="1800">
                <a:solidFill>
                  <a:srgbClr val="D4D4D4"/>
                </a:solidFill>
                <a:latin typeface="Consolas"/>
              </a:defRPr>
            </a:pPr>
            <a:r>
              <a:t>$ mkdir my_experiment</a:t>
            </a:r>
          </a:p>
          <a:p>
            <a:pPr>
              <a:spcAft>
                <a:spcPts val="200"/>
              </a:spcAft>
              <a:defRPr sz="1800">
                <a:solidFill>
                  <a:srgbClr val="D4D4D4"/>
                </a:solidFill>
                <a:latin typeface="Consolas"/>
              </a:defRPr>
            </a:pPr>
            <a:r>
              <a:t>$ cat &gt; my_experiment/config.json &lt;&lt; 'EOF'</a:t>
            </a:r>
          </a:p>
          <a:p>
            <a:pPr>
              <a:spcAft>
                <a:spcPts val="200"/>
              </a:spcAft>
              <a:defRPr sz="1800">
                <a:solidFill>
                  <a:srgbClr val="D4D4D4"/>
                </a:solidFill>
                <a:latin typeface="Consolas"/>
              </a:defRPr>
            </a:pPr>
            <a:r>
              <a:t>{</a:t>
            </a:r>
          </a:p>
          <a:p>
            <a:pPr>
              <a:spcAft>
                <a:spcPts val="200"/>
              </a:spcAft>
              <a:defRPr sz="1800">
                <a:solidFill>
                  <a:srgbClr val="D4D4D4"/>
                </a:solidFill>
                <a:latin typeface="Consolas"/>
              </a:defRPr>
            </a:pPr>
            <a:r>
              <a:t>  "factors": {</a:t>
            </a:r>
          </a:p>
          <a:p>
            <a:pPr>
              <a:spcAft>
                <a:spcPts val="200"/>
              </a:spcAft>
              <a:defRPr sz="1800">
                <a:solidFill>
                  <a:srgbClr val="D4D4D4"/>
                </a:solidFill>
                <a:latin typeface="Consolas"/>
              </a:defRPr>
            </a:pPr>
            <a:r>
              <a:t>    "temperature": {"low": 150, "high": 200, "units": "C"},</a:t>
            </a:r>
          </a:p>
          <a:p>
            <a:pPr>
              <a:spcAft>
                <a:spcPts val="200"/>
              </a:spcAft>
              <a:defRPr sz="1800">
                <a:solidFill>
                  <a:srgbClr val="D4D4D4"/>
                </a:solidFill>
                <a:latin typeface="Consolas"/>
              </a:defRPr>
            </a:pPr>
            <a:r>
              <a:t>    "pressure":    {"low": 1.0, "high": 5.0, "units": "bar"},</a:t>
            </a:r>
          </a:p>
          <a:p>
            <a:pPr>
              <a:spcAft>
                <a:spcPts val="200"/>
              </a:spcAft>
              <a:defRPr sz="1800">
                <a:solidFill>
                  <a:srgbClr val="D4D4D4"/>
                </a:solidFill>
                <a:latin typeface="Consolas"/>
              </a:defRPr>
            </a:pPr>
            <a:r>
              <a:t>    "catalyst":    {"low": 0.5, "high": 1.5, "units": "g"}</a:t>
            </a:r>
          </a:p>
          <a:p>
            <a:pPr>
              <a:spcAft>
                <a:spcPts val="200"/>
              </a:spcAft>
              <a:defRPr sz="1800">
                <a:solidFill>
                  <a:srgbClr val="D4D4D4"/>
                </a:solidFill>
                <a:latin typeface="Consolas"/>
              </a:defRPr>
            </a:pPr>
            <a:r>
              <a:t>  },</a:t>
            </a:r>
          </a:p>
          <a:p>
            <a:pPr>
              <a:spcAft>
                <a:spcPts val="200"/>
              </a:spcAft>
              <a:defRPr sz="1800">
                <a:solidFill>
                  <a:srgbClr val="D4D4D4"/>
                </a:solidFill>
                <a:latin typeface="Consolas"/>
              </a:defRPr>
            </a:pPr>
            <a:r>
              <a:t>  "responses": {</a:t>
            </a:r>
          </a:p>
          <a:p>
            <a:pPr>
              <a:spcAft>
                <a:spcPts val="200"/>
              </a:spcAft>
              <a:defRPr sz="1800">
                <a:solidFill>
                  <a:srgbClr val="D4D4D4"/>
                </a:solidFill>
                <a:latin typeface="Consolas"/>
              </a:defRPr>
            </a:pPr>
            <a:r>
              <a:t>    "yield": {"units": "%", "target": "maximize"}</a:t>
            </a:r>
          </a:p>
          <a:p>
            <a:pPr>
              <a:spcAft>
                <a:spcPts val="200"/>
              </a:spcAft>
              <a:defRPr sz="1800">
                <a:solidFill>
                  <a:srgbClr val="D4D4D4"/>
                </a:solidFill>
                <a:latin typeface="Consolas"/>
              </a:defRPr>
            </a:pPr>
            <a:r>
              <a:t>  },</a:t>
            </a:r>
          </a:p>
          <a:p>
            <a:pPr>
              <a:spcAft>
                <a:spcPts val="200"/>
              </a:spcAft>
              <a:defRPr sz="1800">
                <a:solidFill>
                  <a:srgbClr val="D4D4D4"/>
                </a:solidFill>
                <a:latin typeface="Consolas"/>
              </a:defRPr>
            </a:pPr>
            <a:r>
              <a:t>  "design": {"type": "full_factorial"}</a:t>
            </a:r>
          </a:p>
          <a:p>
            <a:pPr>
              <a:spcAft>
                <a:spcPts val="200"/>
              </a:spcAft>
              <a:defRPr sz="1800">
                <a:solidFill>
                  <a:srgbClr val="D4D4D4"/>
                </a:solidFill>
                <a:latin typeface="Consolas"/>
              </a:defRPr>
            </a:pPr>
            <a:r>
              <a:t>}</a:t>
            </a:r>
          </a:p>
          <a:p>
            <a:pPr>
              <a:spcAft>
                <a:spcPts val="200"/>
              </a:spcAft>
              <a:defRPr sz="1800">
                <a:solidFill>
                  <a:srgbClr val="D4D4D4"/>
                </a:solidFill>
                <a:latin typeface="Consolas"/>
              </a:defRPr>
            </a:pPr>
            <a:r>
              <a:t>EOF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22222"/>
                </a:solidFill>
                <a:latin typeface="Calibri"/>
              </a:defRPr>
            </a:pPr>
            <a:r>
              <a:t>Factor Types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0584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 b="0">
                <a:solidFill>
                  <a:srgbClr val="222222"/>
                </a:solidFill>
                <a:latin typeface="Calibri"/>
              </a:defRPr>
            </a:pPr>
            <a:r>
              <a:t>Continuous: numeric range with low/high values</a:t>
            </a:r>
          </a:p>
          <a:p>
            <a:pPr lvl="1">
              <a:spcAft>
                <a:spcPts val="800"/>
              </a:spcAft>
              <a:defRPr sz="1900">
                <a:solidFill>
                  <a:srgbClr val="222222"/>
                </a:solidFill>
                <a:latin typeface="Calibri"/>
              </a:defRPr>
            </a:pPr>
            <a:r>
              <a:t>Example: temperature (150-200), pressure (1.0-5.0)</a:t>
            </a:r>
          </a:p>
          <a:p>
            <a:pPr>
              <a:spcAft>
                <a:spcPts val="800"/>
              </a:spcAft>
              <a:defRPr sz="2200" b="0">
                <a:solidFill>
                  <a:srgbClr val="222222"/>
                </a:solidFill>
                <a:latin typeface="Calibri"/>
              </a:defRPr>
            </a:pPr>
            <a:r>
              <a:t>Categorical: discrete named levels</a:t>
            </a:r>
          </a:p>
          <a:p>
            <a:pPr lvl="1">
              <a:spcAft>
                <a:spcPts val="800"/>
              </a:spcAft>
              <a:defRPr sz="1900">
                <a:solidFill>
                  <a:srgbClr val="222222"/>
                </a:solidFill>
                <a:latin typeface="Calibri"/>
              </a:defRPr>
            </a:pPr>
            <a:r>
              <a:t>Example: material ("steel", "aluminum", "titanium")</a:t>
            </a:r>
          </a:p>
          <a:p>
            <a:pPr>
              <a:spcAft>
                <a:spcPts val="800"/>
              </a:spcAft>
              <a:defRPr sz="2200" b="0">
                <a:solidFill>
                  <a:srgbClr val="222222"/>
                </a:solidFill>
                <a:latin typeface="Calibri"/>
              </a:defRPr>
            </a:pPr>
            <a:r>
              <a:t>Ordinal: ordered categories with inherent ranking</a:t>
            </a:r>
          </a:p>
          <a:p>
            <a:pPr lvl="1">
              <a:spcAft>
                <a:spcPts val="800"/>
              </a:spcAft>
              <a:defRPr sz="1900">
                <a:solidFill>
                  <a:srgbClr val="222222"/>
                </a:solidFill>
                <a:latin typeface="Calibri"/>
              </a:defRPr>
            </a:pPr>
            <a:r>
              <a:t>Example: quality ("low", "medium", "high")</a:t>
            </a:r>
          </a:p>
          <a:p>
            <a:pPr>
              <a:spcAft>
                <a:spcPts val="800"/>
              </a:spcAft>
              <a:defRPr sz="2200" b="0">
                <a:solidFill>
                  <a:srgbClr val="222222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2200" b="0">
                <a:solidFill>
                  <a:srgbClr val="222222"/>
                </a:solidFill>
                <a:latin typeface="Calibri"/>
              </a:defRPr>
            </a:pPr>
            <a:r>
              <a:t>Coded variables: factors are internally scaled to -1 / +1</a:t>
            </a:r>
          </a:p>
          <a:p>
            <a:pPr lvl="1">
              <a:spcAft>
                <a:spcPts val="800"/>
              </a:spcAft>
              <a:defRPr sz="1900">
                <a:solidFill>
                  <a:srgbClr val="222222"/>
                </a:solidFill>
                <a:latin typeface="Calibri"/>
              </a:defRPr>
            </a:pPr>
            <a:r>
              <a:t>This ensures all effects are directly comparable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222222"/>
                </a:solidFill>
                <a:latin typeface="Calibri"/>
              </a:defRPr>
            </a:pPr>
            <a:r>
              <a:t>Factor Configuration Examples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0515600" cy="411480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spcAft>
                <a:spcPts val="200"/>
              </a:spcAft>
              <a:defRPr sz="1800">
                <a:solidFill>
                  <a:srgbClr val="D4D4D4"/>
                </a:solidFill>
                <a:latin typeface="Consolas"/>
              </a:defRPr>
            </a:pPr>
            <a:r>
              <a:t>"factors": {</a:t>
            </a:r>
          </a:p>
          <a:p>
            <a:pPr>
              <a:spcAft>
                <a:spcPts val="200"/>
              </a:spcAft>
              <a:defRPr sz="1800">
                <a:solidFill>
                  <a:srgbClr val="D4D4D4"/>
                </a:solidFill>
                <a:latin typeface="Consolas"/>
              </a:defRPr>
            </a:pPr>
            <a:r>
              <a:t>  "temperature": {</a:t>
            </a:r>
          </a:p>
          <a:p>
            <a:pPr>
              <a:spcAft>
                <a:spcPts val="200"/>
              </a:spcAft>
              <a:defRPr sz="1800">
                <a:solidFill>
                  <a:srgbClr val="D4D4D4"/>
                </a:solidFill>
                <a:latin typeface="Consolas"/>
              </a:defRPr>
            </a:pPr>
            <a:r>
              <a:t>    "low": 150, "high": 200, "units": "C"</a:t>
            </a:r>
          </a:p>
          <a:p>
            <a:pPr>
              <a:spcAft>
                <a:spcPts val="200"/>
              </a:spcAft>
              <a:defRPr sz="1800">
                <a:solidFill>
                  <a:srgbClr val="D4D4D4"/>
                </a:solidFill>
                <a:latin typeface="Consolas"/>
              </a:defRPr>
            </a:pPr>
            <a:r>
              <a:t>  },</a:t>
            </a:r>
          </a:p>
          <a:p>
            <a:pPr>
              <a:spcAft>
                <a:spcPts val="200"/>
              </a:spcAft>
              <a:defRPr sz="1800">
                <a:solidFill>
                  <a:srgbClr val="D4D4D4"/>
                </a:solidFill>
                <a:latin typeface="Consolas"/>
              </a:defRPr>
            </a:pPr>
            <a:r>
              <a:t>  "material": {</a:t>
            </a:r>
          </a:p>
          <a:p>
            <a:pPr>
              <a:spcAft>
                <a:spcPts val="200"/>
              </a:spcAft>
              <a:defRPr sz="1800">
                <a:solidFill>
                  <a:srgbClr val="D4D4D4"/>
                </a:solidFill>
                <a:latin typeface="Consolas"/>
              </a:defRPr>
            </a:pPr>
            <a:r>
              <a:t>    "type": "categorical",</a:t>
            </a:r>
          </a:p>
          <a:p>
            <a:pPr>
              <a:spcAft>
                <a:spcPts val="200"/>
              </a:spcAft>
              <a:defRPr sz="1800">
                <a:solidFill>
                  <a:srgbClr val="D4D4D4"/>
                </a:solidFill>
                <a:latin typeface="Consolas"/>
              </a:defRPr>
            </a:pPr>
            <a:r>
              <a:t>    "levels": ["steel", "aluminum", "titanium"]</a:t>
            </a:r>
          </a:p>
          <a:p>
            <a:pPr>
              <a:spcAft>
                <a:spcPts val="200"/>
              </a:spcAft>
              <a:defRPr sz="1800">
                <a:solidFill>
                  <a:srgbClr val="D4D4D4"/>
                </a:solidFill>
                <a:latin typeface="Consolas"/>
              </a:defRPr>
            </a:pPr>
            <a:r>
              <a:t>  },</a:t>
            </a:r>
          </a:p>
          <a:p>
            <a:pPr>
              <a:spcAft>
                <a:spcPts val="200"/>
              </a:spcAft>
              <a:defRPr sz="1800">
                <a:solidFill>
                  <a:srgbClr val="D4D4D4"/>
                </a:solidFill>
                <a:latin typeface="Consolas"/>
              </a:defRPr>
            </a:pPr>
            <a:r>
              <a:t>  "quality_grade": {</a:t>
            </a:r>
          </a:p>
          <a:p>
            <a:pPr>
              <a:spcAft>
                <a:spcPts val="200"/>
              </a:spcAft>
              <a:defRPr sz="1800">
                <a:solidFill>
                  <a:srgbClr val="D4D4D4"/>
                </a:solidFill>
                <a:latin typeface="Consolas"/>
              </a:defRPr>
            </a:pPr>
            <a:r>
              <a:t>    "type": "ordinal",</a:t>
            </a:r>
          </a:p>
          <a:p>
            <a:pPr>
              <a:spcAft>
                <a:spcPts val="200"/>
              </a:spcAft>
              <a:defRPr sz="1800">
                <a:solidFill>
                  <a:srgbClr val="D4D4D4"/>
                </a:solidFill>
                <a:latin typeface="Consolas"/>
              </a:defRPr>
            </a:pPr>
            <a:r>
              <a:t>    "levels": ["low", "medium", "high"]</a:t>
            </a:r>
          </a:p>
          <a:p>
            <a:pPr>
              <a:spcAft>
                <a:spcPts val="200"/>
              </a:spcAft>
              <a:defRPr sz="1800">
                <a:solidFill>
                  <a:srgbClr val="D4D4D4"/>
                </a:solidFill>
                <a:latin typeface="Consolas"/>
              </a:defRPr>
            </a:pPr>
            <a:r>
              <a:t>  }</a:t>
            </a:r>
          </a:p>
          <a:p>
            <a:pPr>
              <a:spcAft>
                <a:spcPts val="200"/>
              </a:spcAft>
              <a:defRPr sz="1800">
                <a:solidFill>
                  <a:srgbClr val="D4D4D4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7607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i="1">
                <a:solidFill>
                  <a:srgbClr val="666666"/>
                </a:solidFill>
                <a:latin typeface="Calibri"/>
              </a:defRPr>
            </a:pPr>
            <a:r>
              <a:t>Continuous factors use low/high; categorical and ordinal use levels list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22222"/>
                </a:solidFill>
                <a:latin typeface="Calibri"/>
              </a:defRPr>
            </a:pPr>
            <a:r>
              <a:t>Response Configuration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0584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 b="0">
                <a:solidFill>
                  <a:srgbClr val="222222"/>
                </a:solidFill>
                <a:latin typeface="Calibri"/>
              </a:defRPr>
            </a:pPr>
            <a:r>
              <a:t>Each response has a name, units, and a target direction</a:t>
            </a:r>
          </a:p>
          <a:p>
            <a:pPr>
              <a:spcAft>
                <a:spcPts val="800"/>
              </a:spcAft>
              <a:defRPr sz="2200" b="0">
                <a:solidFill>
                  <a:srgbClr val="222222"/>
                </a:solidFill>
                <a:latin typeface="Calibri"/>
              </a:defRPr>
            </a:pPr>
            <a:r>
              <a:t>Target options:</a:t>
            </a:r>
          </a:p>
          <a:p>
            <a:pPr lvl="1">
              <a:spcAft>
                <a:spcPts val="800"/>
              </a:spcAft>
              <a:defRPr sz="1900">
                <a:solidFill>
                  <a:srgbClr val="222222"/>
                </a:solidFill>
                <a:latin typeface="Calibri"/>
              </a:defRPr>
            </a:pPr>
            <a:r>
              <a:t>"maximize" - higher is better (yield, throughput)</a:t>
            </a:r>
          </a:p>
          <a:p>
            <a:pPr lvl="1">
              <a:spcAft>
                <a:spcPts val="800"/>
              </a:spcAft>
              <a:defRPr sz="1900">
                <a:solidFill>
                  <a:srgbClr val="222222"/>
                </a:solidFill>
                <a:latin typeface="Calibri"/>
              </a:defRPr>
            </a:pPr>
            <a:r>
              <a:t>"minimize" - lower is better (cost, latency, defects)</a:t>
            </a:r>
          </a:p>
          <a:p>
            <a:pPr lvl="1">
              <a:spcAft>
                <a:spcPts val="800"/>
              </a:spcAft>
              <a:defRPr sz="1900">
                <a:solidFill>
                  <a:srgbClr val="222222"/>
                </a:solidFill>
                <a:latin typeface="Calibri"/>
              </a:defRPr>
            </a:pPr>
            <a:r>
              <a:t>A specific numeric value - hit a target (pH = 7.0)</a:t>
            </a:r>
          </a:p>
          <a:p>
            <a:pPr>
              <a:spcAft>
                <a:spcPts val="800"/>
              </a:spcAft>
              <a:defRPr sz="2200" b="0">
                <a:solidFill>
                  <a:srgbClr val="222222"/>
                </a:solidFill>
                <a:latin typeface="Calibri"/>
              </a:defRPr>
            </a:pPr>
            <a:r>
              <a:t>Multiple responses are supported for multi-objective optimisation</a:t>
            </a:r>
          </a:p>
          <a:p>
            <a:pPr lvl="1">
              <a:spcAft>
                <a:spcPts val="800"/>
              </a:spcAft>
              <a:defRPr sz="1900">
                <a:solidFill>
                  <a:srgbClr val="222222"/>
                </a:solidFill>
                <a:latin typeface="Calibri"/>
              </a:defRPr>
            </a:pPr>
            <a:r>
              <a:t>doe-helper uses desirability functions to balance trade-offs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222222"/>
                </a:solidFill>
                <a:latin typeface="Calibri"/>
              </a:defRPr>
            </a:pPr>
            <a:r>
              <a:t>Response Configuration Examples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0515600" cy="411480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spcAft>
                <a:spcPts val="200"/>
              </a:spcAft>
              <a:defRPr sz="1800">
                <a:solidFill>
                  <a:srgbClr val="D4D4D4"/>
                </a:solidFill>
                <a:latin typeface="Consolas"/>
              </a:defRPr>
            </a:pPr>
            <a:r>
              <a:t>"responses": {</a:t>
            </a:r>
          </a:p>
          <a:p>
            <a:pPr>
              <a:spcAft>
                <a:spcPts val="200"/>
              </a:spcAft>
              <a:defRPr sz="1800">
                <a:solidFill>
                  <a:srgbClr val="D4D4D4"/>
                </a:solidFill>
                <a:latin typeface="Consolas"/>
              </a:defRPr>
            </a:pPr>
            <a:r>
              <a:t>  "yield": {</a:t>
            </a:r>
          </a:p>
          <a:p>
            <a:pPr>
              <a:spcAft>
                <a:spcPts val="200"/>
              </a:spcAft>
              <a:defRPr sz="1800">
                <a:solidFill>
                  <a:srgbClr val="D4D4D4"/>
                </a:solidFill>
                <a:latin typeface="Consolas"/>
              </a:defRPr>
            </a:pPr>
            <a:r>
              <a:t>    "units": "%",</a:t>
            </a:r>
          </a:p>
          <a:p>
            <a:pPr>
              <a:spcAft>
                <a:spcPts val="200"/>
              </a:spcAft>
              <a:defRPr sz="1800">
                <a:solidFill>
                  <a:srgbClr val="D4D4D4"/>
                </a:solidFill>
                <a:latin typeface="Consolas"/>
              </a:defRPr>
            </a:pPr>
            <a:r>
              <a:t>    "target": "maximize"</a:t>
            </a:r>
          </a:p>
          <a:p>
            <a:pPr>
              <a:spcAft>
                <a:spcPts val="200"/>
              </a:spcAft>
              <a:defRPr sz="1800">
                <a:solidFill>
                  <a:srgbClr val="D4D4D4"/>
                </a:solidFill>
                <a:latin typeface="Consolas"/>
              </a:defRPr>
            </a:pPr>
            <a:r>
              <a:t>  },</a:t>
            </a:r>
          </a:p>
          <a:p>
            <a:pPr>
              <a:spcAft>
                <a:spcPts val="200"/>
              </a:spcAft>
              <a:defRPr sz="1800">
                <a:solidFill>
                  <a:srgbClr val="D4D4D4"/>
                </a:solidFill>
                <a:latin typeface="Consolas"/>
              </a:defRPr>
            </a:pPr>
            <a:r>
              <a:t>  "cost": {</a:t>
            </a:r>
          </a:p>
          <a:p>
            <a:pPr>
              <a:spcAft>
                <a:spcPts val="200"/>
              </a:spcAft>
              <a:defRPr sz="1800">
                <a:solidFill>
                  <a:srgbClr val="D4D4D4"/>
                </a:solidFill>
                <a:latin typeface="Consolas"/>
              </a:defRPr>
            </a:pPr>
            <a:r>
              <a:t>    "units": "USD",</a:t>
            </a:r>
          </a:p>
          <a:p>
            <a:pPr>
              <a:spcAft>
                <a:spcPts val="200"/>
              </a:spcAft>
              <a:defRPr sz="1800">
                <a:solidFill>
                  <a:srgbClr val="D4D4D4"/>
                </a:solidFill>
                <a:latin typeface="Consolas"/>
              </a:defRPr>
            </a:pPr>
            <a:r>
              <a:t>    "target": "minimize"</a:t>
            </a:r>
          </a:p>
          <a:p>
            <a:pPr>
              <a:spcAft>
                <a:spcPts val="200"/>
              </a:spcAft>
              <a:defRPr sz="1800">
                <a:solidFill>
                  <a:srgbClr val="D4D4D4"/>
                </a:solidFill>
                <a:latin typeface="Consolas"/>
              </a:defRPr>
            </a:pPr>
            <a:r>
              <a:t>  },</a:t>
            </a:r>
          </a:p>
          <a:p>
            <a:pPr>
              <a:spcAft>
                <a:spcPts val="200"/>
              </a:spcAft>
              <a:defRPr sz="1800">
                <a:solidFill>
                  <a:srgbClr val="D4D4D4"/>
                </a:solidFill>
                <a:latin typeface="Consolas"/>
              </a:defRPr>
            </a:pPr>
            <a:r>
              <a:t>  "purity": {</a:t>
            </a:r>
          </a:p>
          <a:p>
            <a:pPr>
              <a:spcAft>
                <a:spcPts val="200"/>
              </a:spcAft>
              <a:defRPr sz="1800">
                <a:solidFill>
                  <a:srgbClr val="D4D4D4"/>
                </a:solidFill>
                <a:latin typeface="Consolas"/>
              </a:defRPr>
            </a:pPr>
            <a:r>
              <a:t>    "units": "%",</a:t>
            </a:r>
          </a:p>
          <a:p>
            <a:pPr>
              <a:spcAft>
                <a:spcPts val="200"/>
              </a:spcAft>
              <a:defRPr sz="1800">
                <a:solidFill>
                  <a:srgbClr val="D4D4D4"/>
                </a:solidFill>
                <a:latin typeface="Consolas"/>
              </a:defRPr>
            </a:pPr>
            <a:r>
              <a:t>    "target": 99.5</a:t>
            </a:r>
          </a:p>
          <a:p>
            <a:pPr>
              <a:spcAft>
                <a:spcPts val="200"/>
              </a:spcAft>
              <a:defRPr sz="1800">
                <a:solidFill>
                  <a:srgbClr val="D4D4D4"/>
                </a:solidFill>
                <a:latin typeface="Consolas"/>
              </a:defRPr>
            </a:pPr>
            <a:r>
              <a:t>  }</a:t>
            </a:r>
          </a:p>
          <a:p>
            <a:pPr>
              <a:spcAft>
                <a:spcPts val="200"/>
              </a:spcAft>
              <a:defRPr sz="1800">
                <a:solidFill>
                  <a:srgbClr val="D4D4D4"/>
                </a:solidFill>
                <a:latin typeface="Consolas"/>
              </a:defRPr>
            </a:pPr>
            <a:r>
              <a:t>}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22222"/>
                </a:solidFill>
                <a:latin typeface="Calibri"/>
              </a:defRPr>
            </a:pPr>
            <a:r>
              <a:t>Design Settings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0584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 b="0">
                <a:solidFill>
                  <a:srgbClr val="222222"/>
                </a:solidFill>
                <a:latin typeface="Calibri"/>
              </a:defRPr>
            </a:pPr>
            <a:r>
              <a:t>The "design" section controls how the experiment is structured:</a:t>
            </a:r>
          </a:p>
          <a:p>
            <a:pPr lvl="1">
              <a:spcAft>
                <a:spcPts val="800"/>
              </a:spcAft>
              <a:defRPr sz="1900">
                <a:solidFill>
                  <a:srgbClr val="222222"/>
                </a:solidFill>
                <a:latin typeface="Calibri"/>
              </a:defRPr>
            </a:pPr>
            <a:r>
              <a:t>type: design type (full_factorial, ccd, box_behnken, etc.)</a:t>
            </a:r>
          </a:p>
          <a:p>
            <a:pPr lvl="1">
              <a:spcAft>
                <a:spcPts val="800"/>
              </a:spcAft>
              <a:defRPr sz="1900">
                <a:solidFill>
                  <a:srgbClr val="222222"/>
                </a:solidFill>
                <a:latin typeface="Calibri"/>
              </a:defRPr>
            </a:pPr>
            <a:r>
              <a:t>randomize: true/false - randomise run order (default: true)</a:t>
            </a:r>
          </a:p>
          <a:p>
            <a:pPr lvl="1">
              <a:spcAft>
                <a:spcPts val="800"/>
              </a:spcAft>
              <a:defRPr sz="1900">
                <a:solidFill>
                  <a:srgbClr val="222222"/>
                </a:solidFill>
                <a:latin typeface="Calibri"/>
              </a:defRPr>
            </a:pPr>
            <a:r>
              <a:t>replicates: number of times to repeat each run (default: 1)</a:t>
            </a:r>
          </a:p>
          <a:p>
            <a:pPr lvl="1">
              <a:spcAft>
                <a:spcPts val="800"/>
              </a:spcAft>
              <a:defRPr sz="1900">
                <a:solidFill>
                  <a:srgbClr val="222222"/>
                </a:solidFill>
                <a:latin typeface="Calibri"/>
              </a:defRPr>
            </a:pPr>
            <a:r>
              <a:t>center_points: add center points for curvature detection</a:t>
            </a:r>
          </a:p>
          <a:p>
            <a:pPr lvl="1">
              <a:spcAft>
                <a:spcPts val="800"/>
              </a:spcAft>
              <a:defRPr sz="1900">
                <a:solidFill>
                  <a:srgbClr val="222222"/>
                </a:solidFill>
                <a:latin typeface="Calibri"/>
              </a:defRPr>
            </a:pPr>
            <a:r>
              <a:t>blocks: number of blocks for blocking out nuisance variables</a:t>
            </a:r>
          </a:p>
          <a:p>
            <a:pPr lvl="1">
              <a:spcAft>
                <a:spcPts val="800"/>
              </a:spcAft>
              <a:defRPr sz="1900">
                <a:solidFill>
                  <a:srgbClr val="222222"/>
                </a:solidFill>
                <a:latin typeface="Calibri"/>
              </a:defRPr>
            </a:pPr>
            <a:r>
              <a:t>resolution: for fractional factorials (III, IV, V)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222222"/>
                </a:solidFill>
                <a:latin typeface="Calibri"/>
              </a:defRPr>
            </a:pPr>
            <a:r>
              <a:t>Full config.json Example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0515600" cy="411480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spcAft>
                <a:spcPts val="200"/>
              </a:spcAft>
              <a:defRPr sz="1800">
                <a:solidFill>
                  <a:srgbClr val="D4D4D4"/>
                </a:solidFill>
                <a:latin typeface="Consolas"/>
              </a:defRPr>
            </a:pPr>
            <a:r>
              <a:t>{</a:t>
            </a:r>
          </a:p>
          <a:p>
            <a:pPr>
              <a:spcAft>
                <a:spcPts val="200"/>
              </a:spcAft>
              <a:defRPr sz="1800">
                <a:solidFill>
                  <a:srgbClr val="D4D4D4"/>
                </a:solidFill>
                <a:latin typeface="Consolas"/>
              </a:defRPr>
            </a:pPr>
            <a:r>
              <a:t>  "factors": {</a:t>
            </a:r>
          </a:p>
          <a:p>
            <a:pPr>
              <a:spcAft>
                <a:spcPts val="200"/>
              </a:spcAft>
              <a:defRPr sz="1800">
                <a:solidFill>
                  <a:srgbClr val="D4D4D4"/>
                </a:solidFill>
                <a:latin typeface="Consolas"/>
              </a:defRPr>
            </a:pPr>
            <a:r>
              <a:t>    "temperature": {"low": 150, "high": 200, "units": "C"},</a:t>
            </a:r>
          </a:p>
          <a:p>
            <a:pPr>
              <a:spcAft>
                <a:spcPts val="200"/>
              </a:spcAft>
              <a:defRPr sz="1800">
                <a:solidFill>
                  <a:srgbClr val="D4D4D4"/>
                </a:solidFill>
                <a:latin typeface="Consolas"/>
              </a:defRPr>
            </a:pPr>
            <a:r>
              <a:t>    "pressure":    {"low": 1.0, "high": 5.0, "units": "bar"},</a:t>
            </a:r>
          </a:p>
          <a:p>
            <a:pPr>
              <a:spcAft>
                <a:spcPts val="200"/>
              </a:spcAft>
              <a:defRPr sz="1800">
                <a:solidFill>
                  <a:srgbClr val="D4D4D4"/>
                </a:solidFill>
                <a:latin typeface="Consolas"/>
              </a:defRPr>
            </a:pPr>
            <a:r>
              <a:t>    "catalyst":    {"low": 0.5, "high": 1.5, "units": "g"}</a:t>
            </a:r>
          </a:p>
          <a:p>
            <a:pPr>
              <a:spcAft>
                <a:spcPts val="200"/>
              </a:spcAft>
              <a:defRPr sz="1800">
                <a:solidFill>
                  <a:srgbClr val="D4D4D4"/>
                </a:solidFill>
                <a:latin typeface="Consolas"/>
              </a:defRPr>
            </a:pPr>
            <a:r>
              <a:t>  },</a:t>
            </a:r>
          </a:p>
          <a:p>
            <a:pPr>
              <a:spcAft>
                <a:spcPts val="200"/>
              </a:spcAft>
              <a:defRPr sz="1800">
                <a:solidFill>
                  <a:srgbClr val="D4D4D4"/>
                </a:solidFill>
                <a:latin typeface="Consolas"/>
              </a:defRPr>
            </a:pPr>
            <a:r>
              <a:t>  "responses": {</a:t>
            </a:r>
          </a:p>
          <a:p>
            <a:pPr>
              <a:spcAft>
                <a:spcPts val="200"/>
              </a:spcAft>
              <a:defRPr sz="1800">
                <a:solidFill>
                  <a:srgbClr val="D4D4D4"/>
                </a:solidFill>
                <a:latin typeface="Consolas"/>
              </a:defRPr>
            </a:pPr>
            <a:r>
              <a:t>    "yield":  {"units": "%", "target": "maximize"},</a:t>
            </a:r>
          </a:p>
          <a:p>
            <a:pPr>
              <a:spcAft>
                <a:spcPts val="200"/>
              </a:spcAft>
              <a:defRPr sz="1800">
                <a:solidFill>
                  <a:srgbClr val="D4D4D4"/>
                </a:solidFill>
                <a:latin typeface="Consolas"/>
              </a:defRPr>
            </a:pPr>
            <a:r>
              <a:t>    "purity": {"units": "%", "target": "maximize"}</a:t>
            </a:r>
          </a:p>
          <a:p>
            <a:pPr>
              <a:spcAft>
                <a:spcPts val="200"/>
              </a:spcAft>
              <a:defRPr sz="1800">
                <a:solidFill>
                  <a:srgbClr val="D4D4D4"/>
                </a:solidFill>
                <a:latin typeface="Consolas"/>
              </a:defRPr>
            </a:pPr>
            <a:r>
              <a:t>  },</a:t>
            </a:r>
          </a:p>
          <a:p>
            <a:pPr>
              <a:spcAft>
                <a:spcPts val="200"/>
              </a:spcAft>
              <a:defRPr sz="1800">
                <a:solidFill>
                  <a:srgbClr val="D4D4D4"/>
                </a:solidFill>
                <a:latin typeface="Consolas"/>
              </a:defRPr>
            </a:pPr>
            <a:r>
              <a:t>  "design": {</a:t>
            </a:r>
          </a:p>
          <a:p>
            <a:pPr>
              <a:spcAft>
                <a:spcPts val="200"/>
              </a:spcAft>
              <a:defRPr sz="1800">
                <a:solidFill>
                  <a:srgbClr val="D4D4D4"/>
                </a:solidFill>
                <a:latin typeface="Consolas"/>
              </a:defRPr>
            </a:pPr>
            <a:r>
              <a:t>    "type": "full_factorial",</a:t>
            </a:r>
          </a:p>
          <a:p>
            <a:pPr>
              <a:spcAft>
                <a:spcPts val="200"/>
              </a:spcAft>
              <a:defRPr sz="1800">
                <a:solidFill>
                  <a:srgbClr val="D4D4D4"/>
                </a:solidFill>
                <a:latin typeface="Consolas"/>
              </a:defRPr>
            </a:pPr>
            <a:r>
              <a:t>    "randomize": true,</a:t>
            </a:r>
          </a:p>
          <a:p>
            <a:pPr>
              <a:spcAft>
                <a:spcPts val="200"/>
              </a:spcAft>
              <a:defRPr sz="1800">
                <a:solidFill>
                  <a:srgbClr val="D4D4D4"/>
                </a:solidFill>
                <a:latin typeface="Consolas"/>
              </a:defRPr>
            </a:pPr>
            <a:r>
              <a:t>    "center_points": 3</a:t>
            </a:r>
          </a:p>
          <a:p>
            <a:pPr>
              <a:spcAft>
                <a:spcPts val="200"/>
              </a:spcAft>
              <a:defRPr sz="1800">
                <a:solidFill>
                  <a:srgbClr val="D4D4D4"/>
                </a:solidFill>
                <a:latin typeface="Consolas"/>
              </a:defRPr>
            </a:pPr>
            <a:r>
              <a:t>  }</a:t>
            </a:r>
          </a:p>
          <a:p>
            <a:pPr>
              <a:spcAft>
                <a:spcPts val="200"/>
              </a:spcAft>
              <a:defRPr sz="1800">
                <a:solidFill>
                  <a:srgbClr val="D4D4D4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7607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i="1">
                <a:solidFill>
                  <a:srgbClr val="666666"/>
                </a:solidFill>
                <a:latin typeface="Calibri"/>
              </a:defRPr>
            </a:pPr>
            <a:r>
              <a:t>This config produces a 2^3 = 8 runs + 3 center points = 11 total runs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22222"/>
                </a:solidFill>
                <a:latin typeface="Calibri"/>
              </a:defRPr>
            </a:pPr>
            <a:r>
              <a:t>Built-in Templates (doe init)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0584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 b="0">
                <a:solidFill>
                  <a:srgbClr val="222222"/>
                </a:solidFill>
                <a:latin typeface="Calibri"/>
              </a:defRPr>
            </a:pPr>
            <a:r>
              <a:t>doe-helper includes 221 worked use-case templates</a:t>
            </a:r>
          </a:p>
          <a:p>
            <a:pPr>
              <a:spcAft>
                <a:spcPts val="800"/>
              </a:spcAft>
              <a:defRPr sz="2200" b="0">
                <a:solidFill>
                  <a:srgbClr val="222222"/>
                </a:solidFill>
                <a:latin typeface="Calibri"/>
              </a:defRPr>
            </a:pPr>
            <a:r>
              <a:t>Categories include:</a:t>
            </a:r>
          </a:p>
          <a:p>
            <a:pPr lvl="1">
              <a:spcAft>
                <a:spcPts val="800"/>
              </a:spcAft>
              <a:defRPr sz="1900">
                <a:solidFill>
                  <a:srgbClr val="222222"/>
                </a:solidFill>
                <a:latin typeface="Calibri"/>
              </a:defRPr>
            </a:pPr>
            <a:r>
              <a:t>Cloud/DevOps: Kubernetes, CI/CD, database tuning</a:t>
            </a:r>
          </a:p>
          <a:p>
            <a:pPr lvl="1">
              <a:spcAft>
                <a:spcPts val="800"/>
              </a:spcAft>
              <a:defRPr sz="1900">
                <a:solidFill>
                  <a:srgbClr val="222222"/>
                </a:solidFill>
                <a:latin typeface="Calibri"/>
              </a:defRPr>
            </a:pPr>
            <a:r>
              <a:t>Manufacturing: 3D printing, injection molding, chemical processes</a:t>
            </a:r>
          </a:p>
          <a:p>
            <a:pPr lvl="1">
              <a:spcAft>
                <a:spcPts val="800"/>
              </a:spcAft>
              <a:defRPr sz="1900">
                <a:solidFill>
                  <a:srgbClr val="222222"/>
                </a:solidFill>
                <a:latin typeface="Calibri"/>
              </a:defRPr>
            </a:pPr>
            <a:r>
              <a:t>Food science: coffee brewing, bread baking, fermentation</a:t>
            </a:r>
          </a:p>
          <a:p>
            <a:pPr lvl="1">
              <a:spcAft>
                <a:spcPts val="800"/>
              </a:spcAft>
              <a:defRPr sz="1900">
                <a:solidFill>
                  <a:srgbClr val="222222"/>
                </a:solidFill>
                <a:latin typeface="Calibri"/>
              </a:defRPr>
            </a:pPr>
            <a:r>
              <a:t>IoT/Electronics: sensor calibration, motor control</a:t>
            </a:r>
          </a:p>
          <a:p>
            <a:pPr lvl="1">
              <a:spcAft>
                <a:spcPts val="800"/>
              </a:spcAft>
              <a:defRPr sz="1900">
                <a:solidFill>
                  <a:srgbClr val="222222"/>
                </a:solidFill>
                <a:latin typeface="Calibri"/>
              </a:defRPr>
            </a:pPr>
            <a:r>
              <a:t>Sports/Health: training programs, sleep optimisation</a:t>
            </a:r>
          </a:p>
          <a:p>
            <a:pPr>
              <a:spcAft>
                <a:spcPts val="800"/>
              </a:spcAft>
              <a:defRPr sz="2200" b="0">
                <a:solidFill>
                  <a:srgbClr val="222222"/>
                </a:solidFill>
                <a:latin typeface="Calibri"/>
              </a:defRPr>
            </a:pPr>
            <a:r>
              <a:t>Templates provide config.json + simulation scripts for practice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222222"/>
                </a:solidFill>
                <a:latin typeface="Calibri"/>
              </a:defRPr>
            </a:pPr>
            <a:r>
              <a:t>Using doe info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0515600" cy="411480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spcAft>
                <a:spcPts val="200"/>
              </a:spcAft>
              <a:defRPr sz="1800">
                <a:solidFill>
                  <a:srgbClr val="D4D4D4"/>
                </a:solidFill>
                <a:latin typeface="Consolas"/>
              </a:defRPr>
            </a:pPr>
            <a:r>
              <a:t>$ doe info my_experiment/</a:t>
            </a:r>
          </a:p>
          <a:p>
            <a:pPr>
              <a:spcAft>
                <a:spcPts val="200"/>
              </a:spcAft>
              <a:defRPr sz="1800">
                <a:solidFill>
                  <a:srgbClr val="D4D4D4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800">
                <a:solidFill>
                  <a:srgbClr val="D4D4D4"/>
                </a:solidFill>
                <a:latin typeface="Consolas"/>
              </a:defRPr>
            </a:pPr>
            <a:r>
              <a:t>Design Summary</a:t>
            </a:r>
          </a:p>
          <a:p>
            <a:pPr>
              <a:spcAft>
                <a:spcPts val="200"/>
              </a:spcAft>
              <a:defRPr sz="1800">
                <a:solidFill>
                  <a:srgbClr val="D4D4D4"/>
                </a:solidFill>
                <a:latin typeface="Consolas"/>
              </a:defRPr>
            </a:pPr>
            <a:r>
              <a:t>  Type:           full_factorial</a:t>
            </a:r>
          </a:p>
          <a:p>
            <a:pPr>
              <a:spcAft>
                <a:spcPts val="200"/>
              </a:spcAft>
              <a:defRPr sz="1800">
                <a:solidFill>
                  <a:srgbClr val="D4D4D4"/>
                </a:solidFill>
                <a:latin typeface="Consolas"/>
              </a:defRPr>
            </a:pPr>
            <a:r>
              <a:t>  Factors:        3</a:t>
            </a:r>
          </a:p>
          <a:p>
            <a:pPr>
              <a:spcAft>
                <a:spcPts val="200"/>
              </a:spcAft>
              <a:defRPr sz="1800">
                <a:solidFill>
                  <a:srgbClr val="D4D4D4"/>
                </a:solidFill>
                <a:latin typeface="Consolas"/>
              </a:defRPr>
            </a:pPr>
            <a:r>
              <a:t>  Runs:           11 (8 factorial + 3 center)</a:t>
            </a:r>
          </a:p>
          <a:p>
            <a:pPr>
              <a:spcAft>
                <a:spcPts val="200"/>
              </a:spcAft>
              <a:defRPr sz="1800">
                <a:solidFill>
                  <a:srgbClr val="D4D4D4"/>
                </a:solidFill>
                <a:latin typeface="Consolas"/>
              </a:defRPr>
            </a:pPr>
            <a:r>
              <a:t>  Replicates:     1</a:t>
            </a:r>
          </a:p>
          <a:p>
            <a:pPr>
              <a:spcAft>
                <a:spcPts val="200"/>
              </a:spcAft>
              <a:defRPr sz="1800">
                <a:solidFill>
                  <a:srgbClr val="D4D4D4"/>
                </a:solidFill>
                <a:latin typeface="Consolas"/>
              </a:defRPr>
            </a:pPr>
            <a:r>
              <a:t>  Randomized:     yes</a:t>
            </a:r>
          </a:p>
          <a:p>
            <a:pPr>
              <a:spcAft>
                <a:spcPts val="200"/>
              </a:spcAft>
              <a:defRPr sz="1800">
                <a:solidFill>
                  <a:srgbClr val="D4D4D4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800">
                <a:solidFill>
                  <a:srgbClr val="D4D4D4"/>
                </a:solidFill>
                <a:latin typeface="Consolas"/>
              </a:defRPr>
            </a:pPr>
            <a:r>
              <a:t>Design Evaluation</a:t>
            </a:r>
          </a:p>
          <a:p>
            <a:pPr>
              <a:spcAft>
                <a:spcPts val="200"/>
              </a:spcAft>
              <a:defRPr sz="1800">
                <a:solidFill>
                  <a:srgbClr val="D4D4D4"/>
                </a:solidFill>
                <a:latin typeface="Consolas"/>
              </a:defRPr>
            </a:pPr>
            <a:r>
              <a:t>  D-efficiency:   100.0%</a:t>
            </a:r>
          </a:p>
          <a:p>
            <a:pPr>
              <a:spcAft>
                <a:spcPts val="200"/>
              </a:spcAft>
              <a:defRPr sz="1800">
                <a:solidFill>
                  <a:srgbClr val="D4D4D4"/>
                </a:solidFill>
                <a:latin typeface="Consolas"/>
              </a:defRPr>
            </a:pPr>
            <a:r>
              <a:t>  A-efficiency:   100.0%</a:t>
            </a:r>
          </a:p>
          <a:p>
            <a:pPr>
              <a:spcAft>
                <a:spcPts val="200"/>
              </a:spcAft>
              <a:defRPr sz="1800">
                <a:solidFill>
                  <a:srgbClr val="D4D4D4"/>
                </a:solidFill>
                <a:latin typeface="Consolas"/>
              </a:defRPr>
            </a:pPr>
            <a:r>
              <a:t>  G-efficiency:   100.0%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7607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i="1">
                <a:solidFill>
                  <a:srgbClr val="666666"/>
                </a:solidFill>
                <a:latin typeface="Calibri"/>
              </a:defRPr>
            </a:pPr>
            <a:r>
              <a:t>Use doe info to verify your design before running experiments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011680" cy="502920"/>
          </a:xfrm>
          <a:prstGeom prst="round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HANDS-ON EXERCISE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017520" y="32004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222222"/>
                </a:solidFill>
                <a:latin typeface="Calibri"/>
              </a:defRPr>
            </a:pPr>
            <a:r>
              <a:t>Exercise 2: Build a Configuration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222222"/>
                </a:solidFill>
                <a:latin typeface="Calibri"/>
              </a:defRPr>
            </a:pPr>
            <a:r>
              <a:t>Scenario: You're optimising a web application's performance.</a:t>
            </a:r>
          </a:p>
          <a:p>
            <a:pPr>
              <a:spcAft>
                <a:spcPts val="600"/>
              </a:spcAft>
              <a:defRPr sz="2000">
                <a:solidFill>
                  <a:srgbClr val="222222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2000">
                <a:solidFill>
                  <a:srgbClr val="222222"/>
                </a:solidFill>
                <a:latin typeface="Calibri"/>
              </a:defRPr>
            </a:pPr>
            <a:r>
              <a:t>1. Create a directory: mkdir webapp_perf</a:t>
            </a:r>
          </a:p>
          <a:p>
            <a:pPr>
              <a:spcAft>
                <a:spcPts val="600"/>
              </a:spcAft>
              <a:defRPr sz="2000">
                <a:solidFill>
                  <a:srgbClr val="222222"/>
                </a:solidFill>
                <a:latin typeface="Calibri"/>
              </a:defRPr>
            </a:pPr>
            <a:r>
              <a:t>2. Create config.json with these factors:</a:t>
            </a:r>
          </a:p>
          <a:p>
            <a:pPr lvl="1">
              <a:spcAft>
                <a:spcPts val="600"/>
              </a:spcAft>
              <a:defRPr sz="1800">
                <a:solidFill>
                  <a:srgbClr val="222222"/>
                </a:solidFill>
                <a:latin typeface="Calibri"/>
              </a:defRPr>
            </a:pPr>
            <a:r>
              <a:t>cache_size: 64 to 512 (MB)</a:t>
            </a:r>
          </a:p>
          <a:p>
            <a:pPr lvl="1">
              <a:spcAft>
                <a:spcPts val="600"/>
              </a:spcAft>
              <a:defRPr sz="1800">
                <a:solidFill>
                  <a:srgbClr val="222222"/>
                </a:solidFill>
                <a:latin typeface="Calibri"/>
              </a:defRPr>
            </a:pPr>
            <a:r>
              <a:t>thread_count: 4 to 32</a:t>
            </a:r>
          </a:p>
          <a:p>
            <a:pPr lvl="1">
              <a:spcAft>
                <a:spcPts val="600"/>
              </a:spcAft>
              <a:defRPr sz="1800">
                <a:solidFill>
                  <a:srgbClr val="222222"/>
                </a:solidFill>
                <a:latin typeface="Calibri"/>
              </a:defRPr>
            </a:pPr>
            <a:r>
              <a:t>compression: categorical ["none", "gzip", "brotli"]</a:t>
            </a:r>
          </a:p>
          <a:p>
            <a:pPr>
              <a:spcAft>
                <a:spcPts val="600"/>
              </a:spcAft>
              <a:defRPr sz="2000">
                <a:solidFill>
                  <a:srgbClr val="222222"/>
                </a:solidFill>
                <a:latin typeface="Calibri"/>
              </a:defRPr>
            </a:pPr>
            <a:r>
              <a:t>3. Add two responses:</a:t>
            </a:r>
          </a:p>
          <a:p>
            <a:pPr lvl="1">
              <a:spcAft>
                <a:spcPts val="600"/>
              </a:spcAft>
              <a:defRPr sz="1800">
                <a:solidFill>
                  <a:srgbClr val="222222"/>
                </a:solidFill>
                <a:latin typeface="Calibri"/>
              </a:defRPr>
            </a:pPr>
            <a:r>
              <a:t>response_time_ms (minimize) and throughput_rps (maximize)</a:t>
            </a:r>
          </a:p>
          <a:p>
            <a:pPr>
              <a:spcAft>
                <a:spcPts val="600"/>
              </a:spcAft>
              <a:defRPr sz="2000">
                <a:solidFill>
                  <a:srgbClr val="222222"/>
                </a:solidFill>
                <a:latin typeface="Calibri"/>
              </a:defRPr>
            </a:pPr>
            <a:r>
              <a:t>4. Set the design type to full_factorial</a:t>
            </a:r>
          </a:p>
          <a:p>
            <a:pPr>
              <a:spcAft>
                <a:spcPts val="600"/>
              </a:spcAft>
              <a:defRPr sz="2000">
                <a:solidFill>
                  <a:srgbClr val="222222"/>
                </a:solidFill>
                <a:latin typeface="Calibri"/>
              </a:defRPr>
            </a:pPr>
            <a:r>
              <a:t>5. Run: doe info webapp_perf/  to verify your configuration</a:t>
            </a:r>
          </a:p>
          <a:p>
            <a:pPr>
              <a:spcAft>
                <a:spcPts val="600"/>
              </a:spcAft>
              <a:defRPr sz="2000">
                <a:solidFill>
                  <a:srgbClr val="222222"/>
                </a:solidFill>
                <a:latin typeface="Calibri"/>
              </a:defRPr>
            </a:pPr>
            <a:r>
              <a:t>6. Run: doe generate webapp_perf/  to see the design matrix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