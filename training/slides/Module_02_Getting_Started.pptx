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0" y="0"/>
            <a:ext cx="3200400" cy="6858000"/>
          </a:xfrm>
          <a:prstGeom prst="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6366F1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914400" y="3657600"/>
            <a:ext cx="3657600" cy="3657600"/>
          </a:xfrm>
          <a:prstGeom prst="ellipse">
            <a:avLst/>
          </a:prstGeom>
          <a:solidFill>
            <a:srgbClr val="5046E5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2377440" cy="438912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>
              <a:defRPr sz="1400" b="1">
                <a:solidFill>
                  <a:srgbClr val="C7D2FE"/>
                </a:solidFill>
                <a:latin typeface="Consolas"/>
              </a:defRPr>
            </a:pPr>
            <a:r>
              <a:t>MODULE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Inter"/>
              </a:defRPr>
            </a:pPr>
            <a:r>
              <a:t>Getting Started</a:t>
            </a:r>
            <a:br/>
            <a:r>
              <a:t>with doe-helper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A5B4FC"/>
                </a:solidFill>
                <a:latin typeface="Inter"/>
              </a:defRPr>
            </a:pPr>
            <a:r>
              <a:t>Installation, configuration, and your first experiment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366F1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Install doe-helper and verify the setup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Understand the config.json structure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Define factors (continuous, categorical, ordinal)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Define responses and their targets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Configure design settings (randomisation, blocks, replicates)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Use doe init with built-in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Installation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43891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Install from PyPI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pip install doehelper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Verify installation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--help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Check version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--version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doehelper 0.1.0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Requirements: Python 3.10+</a:t>
            </a:r>
          </a:p>
          <a:p>
            <a:pPr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Works on Linux, macOS, Windows</a:t>
            </a:r>
          </a:p>
          <a:p>
            <a:pPr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Deps: numpy, pandas, scipy, matplotlib, pyDOE3, Jinja2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Creating Your First Experiment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43891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Use a built-in template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init my_experiment --design full_factorial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555555"/>
                </a:solidFill>
                <a:latin typeface="Consolas"/>
              </a:defRPr>
            </a:pPr>
            <a:r>
              <a:t># Or create config.json manually</a:t>
            </a:r>
          </a:p>
          <a:p>
            <a:pPr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mkdir my_experiment &amp;&amp; cat &gt; my_experiment/config.json &lt;&lt; 'EOF'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"factors":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"temperature": {"low": 150, "high": 200, "units": "C"},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"pressure":    {"low": 1.0, "high": 5.0, "units": "bar"},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"catalyst":    {"low": 0.5, "high": 1.5, "units": "g"}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"responses":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"yield": {"units": "%", "target": "maximize"}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"design": {"type": "full_factorial"}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EOF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Factor Types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03520" cy="493776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6576" cy="4937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A34A"/>
                </a:solidFill>
                <a:latin typeface="Consolas"/>
              </a:defRPr>
            </a:pPr>
            <a:r>
              <a:t>CONTINUOUS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Continuous: numeric range with low/high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temperature: 150–200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pressure: 1.0–5.0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Coded variables: factors are internally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scaled to −1 / +1 so all effects are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directly comparable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03520" cy="4937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36576" cy="493776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046E5"/>
                </a:solidFill>
                <a:latin typeface="Consolas"/>
              </a:defRPr>
            </a:pPr>
            <a:r>
              <a:t>CATEGORICAL &amp; ORDINAL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Categorical: discrete named levels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material: steel, aluminum, titanium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Ordinal: ordered categories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quality: low, medium, high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Set "type" field in config.json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Factor Configuration Examples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39319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"factors":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"temperature":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    "low": 150, "high": 200, "units": "C"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"material":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    "type": "categorical",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    "levels": ["steel", "aluminum", "titanium"]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"quality_grade":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    "type": "ordinal",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    "levels": ["low", "medium", "high"]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Inter"/>
              </a:defRPr>
            </a:pPr>
            <a:r>
              <a:t>Continuous factors use low/high; categorical and ordinal use a levels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Response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Each response has a name, units, and a target direction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Target options: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"maximize" — higher is better (yield, throughput)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"minimize" — lower is better (cost, latency, defects)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A specific number — hit a target (pH = 7.0)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Multiple responses are supported for multi-objective optimisation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doe-helper uses desirability functions to balance trade-offs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Design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The "design" section controls experiment structure: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type: design type (full_factorial, ccd, box_behnken, etc.)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randomize: true/false — randomise run order (default: true)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replicates: number of times to repeat each run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center_points: add center points for curvature detection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blocks: number of blocks for nuisance variables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resolution: for fractional factorials (III, IV, 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Complete config.json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39319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"factors":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"temperature": {"low": 150, "high": 200, "units": "C"},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"pressure":    {"low": 1.0, "high": 5.0, "units": "bar"},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"catalyst":    {"low": 0.5, "high": 1.5, "units": "g"}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"responses":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"yield":  {"units": "%", "target": "maximize"},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"purity": {"units": "%", "target": "maximize"}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"design": {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"type": "full_factorial",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"randomize": true,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  "center_points": 3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Inter"/>
              </a:defRPr>
            </a:pPr>
            <a:r>
              <a:t>This config produces 2³ = 8 runs + 3 center points = 11 total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36576" cy="502920"/>
          </a:xfrm>
          <a:prstGeom prst="rect">
            <a:avLst/>
          </a:prstGeom>
          <a:solidFill>
            <a:srgbClr val="50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11111"/>
                </a:solidFill>
                <a:latin typeface="Inter"/>
              </a:defRPr>
            </a:pPr>
            <a:r>
              <a:t>Built-in Templates (doe init)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241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doe-helper includes 221 worked use-case templates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Categories include: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Cloud/DevOps: Kubernetes, CI/CD, database tuning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Manufacturing: 3D printing, injection molding, chemical processes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Food science: coffee brewing, bread baking, fermentation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IoT/Electronics: sensor calibration, motor control</a:t>
            </a:r>
          </a:p>
          <a:p>
            <a:pPr lvl="1">
              <a:spcAft>
                <a:spcPts val="600"/>
              </a:spcAft>
              <a:defRPr sz="1700">
                <a:solidFill>
                  <a:srgbClr val="666666"/>
                </a:solidFill>
                <a:latin typeface="Inter"/>
              </a:defRPr>
            </a:pPr>
            <a:r>
              <a:t>Sports/Health: training programs, sleep optimisation</a:t>
            </a:r>
          </a:p>
          <a:p>
            <a:pPr>
              <a:spcAft>
                <a:spcPts val="600"/>
              </a:spcAft>
              <a:defRPr sz="1900">
                <a:solidFill>
                  <a:srgbClr val="333333"/>
                </a:solidFill>
                <a:latin typeface="Inter"/>
              </a:defRPr>
            </a:pPr>
            <a:r>
              <a:t>Templates provide config.json + simulation scripts for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Verifying with doe info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terminal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0972800" cy="3931920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 rIns="274320"/>
          <a:lstStyle/>
          <a:p>
            <a:pPr algn="ctr">
              <a:spcAft>
                <a:spcPts val="100"/>
              </a:spcAft>
              <a:defRPr sz="1500">
                <a:solidFill>
                  <a:srgbClr val="6EC86E"/>
                </a:solidFill>
                <a:latin typeface="Consolas"/>
              </a:defRPr>
            </a:pPr>
            <a:r>
              <a:t>$ doe info my_experiment/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Design Summary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Type:           full_factorial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Factors:        3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Runs:           11 (8 factorial + 3 center)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Replicates:     1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Randomized:     yes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Design Evaluation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D-efficiency:   100.0%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A-efficiency:   100.0%</a:t>
            </a:r>
          </a:p>
          <a:p>
            <a:pPr>
              <a:spcAft>
                <a:spcPts val="100"/>
              </a:spcAft>
              <a:defRPr sz="1500">
                <a:solidFill>
                  <a:srgbClr val="CCCCCC"/>
                </a:solidFill>
                <a:latin typeface="Consolas"/>
              </a:defRPr>
            </a:pPr>
            <a:r>
              <a:t>  G-efficiency:   100.0%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Inter"/>
              </a:defRPr>
            </a:pPr>
            <a:r>
              <a:t>Always run doe info to verify your design before running experiments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194560" cy="4572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onsolas"/>
              </a:defRPr>
            </a:pPr>
            <a: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11111"/>
                </a:solidFill>
                <a:latin typeface="Inter"/>
              </a:defRPr>
            </a:pPr>
            <a:r>
              <a:t>Exercise 2: Build a Configuration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05840"/>
            <a:ext cx="10972800" cy="512064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36576" cy="5120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Scenario: optimising a web application's performance.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1. Create a directory:  mkdir webapp_perf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2. Create config.json with these factors: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cache_size: 64–512 MB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thread_count: 4–32</a:t>
            </a:r>
          </a:p>
          <a:p>
            <a:pPr lvl="1">
              <a:spcAft>
                <a:spcPts val="500"/>
              </a:spcAft>
              <a:defRPr sz="1500">
                <a:solidFill>
                  <a:srgbClr val="666666"/>
                </a:solidFill>
                <a:latin typeface="Inter"/>
              </a:defRPr>
            </a:pPr>
            <a:r>
              <a:t>compression: categorical [none, gzip, brotli]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3. Add responses: response_time_ms (min), throughput_rps (max)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4. Set design type to full_factorial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5. Run:  doe info webapp_perf/   to verify</a:t>
            </a:r>
          </a:p>
          <a:p>
            <a:pPr>
              <a:spcAft>
                <a:spcPts val="500"/>
              </a:spcAft>
              <a:defRPr sz="1700">
                <a:solidFill>
                  <a:srgbClr val="333333"/>
                </a:solidFill>
                <a:latin typeface="Inter"/>
              </a:defRPr>
            </a:pPr>
            <a:r>
              <a:t>6. Run:  doe generate webapp_perf/   to see the design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onsolas"/>
              </a:defRPr>
            </a:pPr>
            <a:r>
              <a:t>© 2026 Martin J. Gallagher  |  GPL-3.0-or-later  |  doehelper.com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