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7BFF"/>
                </a:solidFill>
                <a:latin typeface="Calibri"/>
              </a:defRPr>
            </a:pPr>
            <a:r>
              <a:t>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Multi-Response Optimisation</a:t>
            </a:r>
            <a:br/>
            <a:r>
              <a:t>and Advanced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CCCCC"/>
                </a:solidFill>
                <a:latin typeface="Calibri"/>
              </a:defRPr>
            </a:pPr>
            <a:r>
              <a:t>Balancing competing objectives and extending your designs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888888"/>
                </a:solidFill>
                <a:latin typeface="Calibri"/>
              </a:defRPr>
            </a:pPr>
            <a:r>
              <a:t>Copyright © 2026 Martin J. Gallagher. Licensed under GPL-3.0-or-later.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Optimise for multiple responses simultaneously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Understand desirability functions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design augmentation strategies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Apply blocking and randomisation correctly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Taguchi designs for robust parameter design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Handle mixture experiments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Multi-Response Optimisation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Most real experiments have multiple responses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Maximise yield AND minimise cost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Minimise latency AND maximise throughput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Responses often conflict: improving one degrades another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Need a systematic way to balance trade-offs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Derringer-Suich desirability function: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Transform each response to a 0-1 desirability scale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Overall desirability D = geometric mean of individual d_i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Multi-Response Config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"factors": 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"temperature": {"low": 150, "high": 200, "units": "C"},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"pressure":    {"low": 1.0, "high": 5.0, "units": "bar"},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"catalyst":    {"low": 0.5, "high": 1.5, "units": "g"}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"responses": {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"yield":  {"units": "%",   "target": "maximize"},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"cost":   {"units": "USD", "target": "minimize"},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"purity": {"units": "%",   "target": 99.5}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},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"design": {"type": "ccd"}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optimize reactor_multi/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Overall desirability: 0.87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yield=91.2%, cost=$42.30, purity=99.3%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66666"/>
                </a:solidFill>
                <a:latin typeface="Calibri"/>
              </a:defRPr>
            </a:pPr>
            <a:r>
              <a:t>doe optimize balances all responses via desirability functions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Design Augmentation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Often you want to extend an existing design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 augment supports several strategies: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Fold-over: mirror the design to break aliases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Star points: add axial points for RSM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Center points: add runs at the center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Benefits: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Leverages data you already have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Sequentially builds up information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No need to start over from scratch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Blocking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Blocks account for known nuisance variables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Different batches of raw material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Different days or operators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Different machines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Block effects are estimated and removed from the analysis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doe-helper: set "blocks" in the design section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design is constructed so blocks are orthogonal to treatments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Taguchi Designs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Focus on robustness: find settings insensitive to noise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Inner array: controllable factors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Outer array: noise factors (things you can't control)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Signal-to-noise (S/N) ratio as the response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doe-helper: set "type": "taguchi"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Useful for manufacturing where environmental variation matters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Mixture Experiments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factors are proportions that must sum to 1 (or 100%)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Concrete: cement, water, aggregate, admixture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Alloy: proportions of different metals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Formulation: ingredients in a product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Standard designs don't work (can't vary independently)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 supports: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Simplex-Lattice: evenly-spaced mixture points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Simplex-Centroid: vertices, edge midpoints, center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D-Optimal Designs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Computer-generated designs for non-standard situations: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Irregular factor space (constraints)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Mix of continuous and categorical factors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Limited run budget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Maximises the determinant of X'X (D-optimality)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Uses the Fedorov exchange algorithm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doe-helper: set "type": "d_optimal", "runs": N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Flexible but requires specifying the number of runs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Power Analysis with doe-helper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power experiment/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Power Analysis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Design:          full_factorial (2^3)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Runs:            8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Error estimate:  2.5 (from prior data or estimate)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Detectable Effect Sizes (at 80% power, alpha=0.05):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Main effects:   3.2 units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  2-factor int.:  3.2 units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Or specify a target effect size: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power experiment/ --effect-size 5.0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Power: 0.95 for main effects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Power: 0.95 for 2-factor interactions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666666"/>
                </a:solidFill>
                <a:latin typeface="Calibri"/>
              </a:defRPr>
            </a:pPr>
            <a:r>
              <a:t>Use power analysis to ensure your design can detect meaningful effects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Multi-response: desirability functions balance trade-offs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doe augment extends designs without starting 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Blocking removes nuisance variation systematically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2628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Taguchi designs optimise for robustness to noise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D-Optimal handles constraints and irregular spaces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01168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Exercise 7: Multi-Response Optimisation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1. Modify the reactor experiment to have 3 responses: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yield (maximize), cost (minimize), purity (target: 99.5)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2. Run: doe generate reactor_multi/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3. Run the simulation and collect results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4. Run: doe analyze reactor_multi/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5. Run: doe optimize reactor_multi/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What is the overall desirability score?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How do the optimal settings differ from single-response?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6. Run: doe power reactor_multi/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Is the design adequately powered for all responses?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7. Try: doe augment reactor_multi/ --method center-points --count 4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How does this change the power analysis?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