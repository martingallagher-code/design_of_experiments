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2004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366F1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5046E5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2377440" cy="43891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400" b="1">
                <a:solidFill>
                  <a:srgbClr val="C7D2FE"/>
                </a:solidFill>
                <a:latin typeface="Consolas"/>
              </a:defRPr>
            </a:pPr>
            <a:r>
              <a:t>MODULE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Inter"/>
              </a:defRPr>
            </a:pPr>
            <a:r>
              <a:t>Multi-Response Optimisation</a:t>
            </a:r>
            <a:br/>
            <a:r>
              <a:t>&amp; Advanced 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5B4FC"/>
                </a:solidFill>
                <a:latin typeface="Inter"/>
              </a:defRPr>
            </a:pPr>
            <a:r>
              <a:t>Balancing competing objectives and extending designs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366F1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Optimise for multiple responses simultaneously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Understand desirability functions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Use design augmentation strategies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Apply blocking and randomisation correctly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Use Taguchi designs for robust parameter design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Handle mixture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Multi-Response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Most real experiments have multiple responses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Maximise yield AND minimise cost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Minimise latency AND maximise throughput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Responses often conflict: improving one degrades another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Derringer-Suich desirability function: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Transform each response to a 0–1 desirability scale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Overall D = geometric mean of individual dᵢ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D = 1: perfect  |  D = 0: unacceptable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Inter"/>
              </a:defRPr>
            </a:pPr>
            <a:r>
              <a:t>Multi-Response Config &amp;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3931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"responses": {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"yield":  {"units": "%",   "target": "maximize"},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"cost":   {"units": "USD", "target": "minimize"},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"purity": {"units": "%",   "target": 99.5}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optimize reactor_multi/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Optimization Results: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yield=91.2%, cost=$42.30, purity=99.3%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Overall desirability: 0.87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Inter"/>
              </a:defRPr>
            </a:pPr>
            <a:r>
              <a:t>doe optimize balances all responses via desirability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Design Augmentation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Often you want to extend an existing design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doe augment supports several strategies: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Fold-over: mirror design to break aliases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Star points: add axial points for RSM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Center points: add runs at the center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Benefits: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Leverages data you already have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Sequentially builds up information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No need to start over from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Taguchi &amp; Mixture Designs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93776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6576" cy="4937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Consolas"/>
              </a:defRPr>
            </a:pPr>
            <a:r>
              <a:t>ROBUST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Taguchi Designs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Focus on robustness to noise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Inner array: controllable factors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Outer array: noise factors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S/N ratio as the response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doe-helper: "type": "taguchi"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4937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36576" cy="493776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46E5"/>
                </a:solidFill>
                <a:latin typeface="Consolas"/>
              </a:defRPr>
            </a:pPr>
            <a:r>
              <a:t>MIXTURES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Mixture Experiments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Proportions must sum to 1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E.g. concrete, alloys, formulations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Simplex-Lattice: evenly spaced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Simplex-Centroid: vertices + center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doe-helper: "type": "simplex_lattice"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36576" cy="502920"/>
          </a:xfrm>
          <a:prstGeom prst="rect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Inter"/>
              </a:defRPr>
            </a:pPr>
            <a:r>
              <a:t>Blocking &amp; D-Optimal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241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Blocking accounts for known nuisance variables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Different batches, days, operators, machines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Block effects are estimated and removed from analysis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doe-helper: set "blocks" in the design section</a:t>
            </a: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333333"/>
                </a:solidFill>
                <a:latin typeface="Inter"/>
              </a:defRPr>
            </a:pPr>
            <a:r>
              <a:t>D-Optimal: computer-generated for non-standard situations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Irregular factor space, constraints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Mix of continuous and categorical factors</a:t>
            </a:r>
          </a:p>
          <a:p>
            <a:pPr lvl="1">
              <a:spcAft>
                <a:spcPts val="600"/>
              </a:spcAft>
              <a:defRPr sz="1700">
                <a:solidFill>
                  <a:srgbClr val="666666"/>
                </a:solidFill>
                <a:latin typeface="Inter"/>
              </a:defRPr>
            </a:pPr>
            <a:r>
              <a:t>doe-helper: "type": "d_optimal", "runs": 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Inter"/>
              </a:defRPr>
            </a:pPr>
            <a:r>
              <a:t>Power Analysis with doe-helper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0972800" cy="3931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power experiment/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Power Analysis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Design:       full_factorial (2^3)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Runs:         8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Error est.:   2.5 (from prior data or estimate)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Detectable Effect Sizes (80% power, alpha=0.05):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Main effects:    3.2 units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  2-factor int.:   3.2 units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6EC86E"/>
                </a:solidFill>
                <a:latin typeface="Consolas"/>
              </a:defRPr>
            </a:pPr>
            <a:r>
              <a:t>$ doe power experiment/ --effect-size 5.0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Power: 0.95 for main effects</a:t>
            </a:r>
          </a:p>
          <a:p>
            <a:pPr>
              <a:spcAft>
                <a:spcPts val="100"/>
              </a:spcAft>
              <a:defRPr sz="1500">
                <a:solidFill>
                  <a:srgbClr val="CCCCCC"/>
                </a:solidFill>
                <a:latin typeface="Consolas"/>
              </a:defRPr>
            </a:pPr>
            <a:r>
              <a:t>  Power: 0.95 for 2-factor interactions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49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Inter"/>
              </a:defRPr>
            </a:pPr>
            <a:r>
              <a:t>Power analysis ensures your design can detect meaningful effects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0"/>
            <a:ext cx="4572000" cy="68580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08760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325880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Multi-response: desirability functions balance trade-offs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67128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395728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212848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doe augment extends designs without starting 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54096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282696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099816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Blocking removes nuisance variation systematically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41064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169664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986784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Taguchi designs optimise for robustness to noise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28032"/>
            <a:ext cx="10515600" cy="77724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056632"/>
            <a:ext cx="320040" cy="320040"/>
          </a:xfrm>
          <a:prstGeom prst="ellipse">
            <a:avLst/>
          </a:prstGeom>
          <a:solidFill>
            <a:srgbClr val="50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873752"/>
            <a:ext cx="9418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Inter"/>
              </a:defRPr>
            </a:pPr>
            <a:r>
              <a:t>D-Optimal handles constraints and irregular spaces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366F1"/>
                </a:solidFill>
                <a:latin typeface="Consolas"/>
              </a:defRPr>
            </a:pPr>
            <a:r>
              <a:t>© 2026 Martin J. Gallagher  |  GPL-3.0-or-later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219456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HANDS-ON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Inter"/>
              </a:defRPr>
            </a:pPr>
            <a:r>
              <a:t>Exercise 7: Multi-Response Optimisation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10972800" cy="512064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36576" cy="5120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1. Add 3 responses to the reactor experiment:</a:t>
            </a:r>
          </a:p>
          <a:p>
            <a:pPr lvl="1">
              <a:spcAft>
                <a:spcPts val="500"/>
              </a:spcAft>
              <a:defRPr sz="1500">
                <a:solidFill>
                  <a:srgbClr val="666666"/>
                </a:solidFill>
                <a:latin typeface="Inter"/>
              </a:defRPr>
            </a:pPr>
            <a:r>
              <a:t>yield (maximize), cost (minimize), purity (target: 99.5)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2. Run:  doe optimize reactor_multi/</a:t>
            </a:r>
          </a:p>
          <a:p>
            <a:pPr lvl="1">
              <a:spcAft>
                <a:spcPts val="500"/>
              </a:spcAft>
              <a:defRPr sz="1500">
                <a:solidFill>
                  <a:srgbClr val="666666"/>
                </a:solidFill>
                <a:latin typeface="Inter"/>
              </a:defRPr>
            </a:pPr>
            <a:r>
              <a:t>What is the overall desirability score?</a:t>
            </a:r>
          </a:p>
          <a:p>
            <a:pPr lvl="1">
              <a:spcAft>
                <a:spcPts val="500"/>
              </a:spcAft>
              <a:defRPr sz="1500">
                <a:solidFill>
                  <a:srgbClr val="666666"/>
                </a:solidFill>
                <a:latin typeface="Inter"/>
              </a:defRPr>
            </a:pPr>
            <a:r>
              <a:t>Which response is most compromised?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3. Run:  doe power reactor_multi/</a:t>
            </a:r>
          </a:p>
          <a:p>
            <a:pPr lvl="1">
              <a:spcAft>
                <a:spcPts val="500"/>
              </a:spcAft>
              <a:defRPr sz="1500">
                <a:solidFill>
                  <a:srgbClr val="666666"/>
                </a:solidFill>
                <a:latin typeface="Inter"/>
              </a:defRPr>
            </a:pPr>
            <a:r>
              <a:t>Is the design adequately powered?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  <a:latin typeface="Inter"/>
              </a:defRPr>
            </a:pPr>
            <a:r>
              <a:t>4. Try:  doe augment reactor_multi/ --method center-points --count 4</a:t>
            </a:r>
          </a:p>
          <a:p>
            <a:pPr lvl="1">
              <a:spcAft>
                <a:spcPts val="500"/>
              </a:spcAft>
              <a:defRPr sz="1500">
                <a:solidFill>
                  <a:srgbClr val="666666"/>
                </a:solidFill>
                <a:latin typeface="Inter"/>
              </a:defRPr>
            </a:pPr>
            <a:r>
              <a:t>How does augmentation change the power analysis?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© 2026 Martin J. Gallagher  |  GPL-3.0-or-later  |  doehelper.com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