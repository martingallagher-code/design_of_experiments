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7BFF"/>
                </a:solidFill>
                <a:latin typeface="Calibri"/>
              </a:defRPr>
            </a:pPr>
            <a:r>
              <a:t>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Calibri"/>
              </a:defRPr>
            </a:pPr>
            <a:r>
              <a:t>Analysis and Interpretation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>
                <a:solidFill>
                  <a:srgbClr val="CCCCCC"/>
                </a:solidFill>
                <a:latin typeface="Calibri"/>
              </a:defRPr>
            </a:pPr>
            <a:r>
              <a:t>Turning experimental data into actionable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888888"/>
                </a:solidFill>
                <a:latin typeface="Calibri"/>
              </a:defRPr>
            </a:pPr>
            <a:r>
              <a:t>Copyright © 2026 Martin J. Gallagher. Licensed under GPL-3.0-or-later.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Read and interpret ANOVA tables confidently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Pareto charts and main-effects plots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Understand residual analysis and model diagnostics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Detect and handle model inadequacy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Use doe analyze for automated analysis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Generate comprehensive HTML reports with doe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The doe analyze Output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 analyze produces a complete analysis package: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ANOVA table with F-tests and p-values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Effect estimates with confidence intervals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Pareto chart of effect magnitudes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Main effects plots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Interaction plots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Normal probability plot of effects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Residual diagnostics (4-panel plot)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Model summary (R-squared, adjusted R-squared)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ANOVA Table Deep 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Source: name of the factor, interaction, or error term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Sum of Squares (SS): total variability explained by this source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% Contribution = SS_source / SS_total x 100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Degrees of Freedom (DF): parameters used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Mean Square (MS): SS / DF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F-value: MS_source / MS_error (signal-to-noise ratio)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p-value: probability of seeing this F by chance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p &lt; 0.05: significant | p &lt; 0.01: highly significant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Pareto Chart of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Horizontal bar chart, absolute effects sorted large to small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Dashed line = significance threshold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For replicated designs: based on pooled error estimate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For unreplicated: uses Lenth's pseudo-standard-error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Focus on bars that cross the threshold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"vital few" factors are immediately obvious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doe-helper labels each bar with the factor/interaction name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Main Effects and Interaction Plots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Main Effects Plot: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Shows average response at each level of each factor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Steep slope = large effect; flat = no effect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Quick visual scan of which factors matter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Interaction Plot: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Shows response for each combination of two factors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Parallel lines = no interaction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Non-parallel (crossing) lines = interaction present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Normal Probability Plot of Effects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Plots effect estimates against expected normal quantiles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Inactive effects fall on a straight line through zero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Active effects deviate from the line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Particularly useful for unreplicated designs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No error estimate available -&gt; use this visual method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doe-helper generates both normal and half-normal plots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Residual Diagnostics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Residuals = observed - predicted values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Four-panel diagnostic plot from doe analyze: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1. Residuals vs. Fitted: check for patterns (should be random)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2. Normal Q-Q plot: residuals should follow a normal distribution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3. Residuals vs. Run order: check for time trends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4. Residuals histogram: should be roughly bell-shaped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Patterns in residuals signal model problems: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Funnel shape -&gt; non-constant variance (transform response)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Curve -&gt; missing quadratic terms (need RSM)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7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222222"/>
                </a:solidFill>
                <a:latin typeface="Calibri"/>
              </a:defRPr>
            </a:pPr>
            <a:r>
              <a:t>Model Adequacy Statistics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R-squared: fraction of variability explained (0 to 1)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R^2 &gt; 0.9 is generally good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Adjusted R-squared: penalised for number of terms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Should be close to R^2 (large gap = overfitting)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Predicted R-squared (PRESS-based): cross-validation metric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Should agree with Adj R^2 within ~0.2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t>Lack-of-Fit test: is the model adequate?</a:t>
            </a:r>
          </a:p>
          <a:p>
            <a:pPr lvl="1">
              <a:spcAft>
                <a:spcPts val="800"/>
              </a:spcAft>
              <a:defRPr sz="1900">
                <a:solidFill>
                  <a:srgbClr val="222222"/>
                </a:solidFill>
                <a:latin typeface="Calibri"/>
              </a:defRPr>
            </a:pPr>
            <a:r>
              <a:t>Significant LOF -&gt; model is missing important terms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doe analyze in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analyze reactor_rsm/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ANOVA Table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Source        SS       DF    MS       F       p-value   Sig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temperature   1240.5   1    1240.5   45.2    0.0001    ***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pressure       890.3   1     890.3   32.4    0.0005    ***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catalyst       45.2    1      45.2    1.6    0.2345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temp*press     320.1   1     320.1   11.7    0.0089    **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temp^2         156.7   1     156.7    5.7    0.0412    *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  ...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Model: R^2 = 0.967   Adj R^2 = 0.945   Pred R^2 = 0.912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C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Generating HTML Reports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515600" cy="4114800"/>
          </a:xfrm>
          <a:prstGeom prst="roundRect">
            <a:avLst/>
          </a:prstGeom>
          <a:solidFill>
            <a:srgbClr val="2D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$ doe report reactor_rsm/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Report generated: reactor_rsm/report.html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The report includes: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  - Executive summary with key findings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  - Interactive plots (zoom, hover, pan)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  - Full ANOVA table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  - Effect estimates and confidence intervals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  - Residual diagnostics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  - Response surface plots (for RSM designs)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  - Optimal settings (if doe optimize was run)</a:t>
            </a:r>
          </a:p>
          <a:p>
            <a:pPr>
              <a:spcAft>
                <a:spcPts val="200"/>
              </a:spcAft>
              <a:defRPr sz="1800">
                <a:solidFill>
                  <a:srgbClr val="D4D4D4"/>
                </a:solidFill>
                <a:latin typeface="Consolas"/>
              </a:defRPr>
            </a:pPr>
            <a:r>
              <a:t>#   - Self-contained single HTML file -- easy to share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doe analyze automates the entire analysis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Pareto chart: quick visual ID of significant factors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56616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Always check residual plots for model adequacy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2628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R^2, Adj-R^2, and Pred-R^2 should be close and high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486400"/>
            <a:ext cx="10515600" cy="822960"/>
          </a:xfrm>
          <a:prstGeom prst="roundRect">
            <a:avLst/>
          </a:prstGeom>
          <a:solidFill>
            <a:srgbClr val="2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>
              <a:defRPr sz="2200">
                <a:solidFill>
                  <a:srgbClr val="FFFFFF"/>
                </a:solidFill>
                <a:latin typeface="Calibri"/>
              </a:defRPr>
            </a:pPr>
            <a:r>
              <a:t>doe report creates shareable HTML reports with all results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011680" cy="502920"/>
          </a:xfrm>
          <a:prstGeom prst="round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HANDS-ON EXERCISE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32004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22222"/>
                </a:solidFill>
                <a:latin typeface="Calibri"/>
              </a:defRPr>
            </a:pPr>
            <a:r>
              <a:t>Exercise 6: Analyse and Interpret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Use the reactor_optimization experiment from Exercise 5.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1. Run: doe analyze reactor_optimization/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2. Examine the ANOVA table: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Which factors are significant at p &lt; 0.05?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What is the % contribution of each factor?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3. Look at the Pareto chart: do the results agree?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4. Check the residual diagnostics: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Are there patterns in residuals vs. fitted values?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Do residuals follow a normal distribution?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5. Run: doe report reactor_optimization/</a:t>
            </a:r>
          </a:p>
          <a:p>
            <a:pPr lvl="1">
              <a:spcAft>
                <a:spcPts val="600"/>
              </a:spcAft>
              <a:defRPr sz="1800">
                <a:solidFill>
                  <a:srgbClr val="222222"/>
                </a:solidFill>
                <a:latin typeface="Calibri"/>
              </a:defRPr>
            </a:pPr>
            <a:r>
              <a:t>Open the HTML report and explore the interactive plots</a:t>
            </a:r>
          </a:p>
          <a:p>
            <a:pPr>
              <a:spcAft>
                <a:spcPts val="600"/>
              </a:spcAft>
              <a:defRPr sz="2000">
                <a:solidFill>
                  <a:srgbClr val="222222"/>
                </a:solidFill>
                <a:latin typeface="Calibri"/>
              </a:defRPr>
            </a:pPr>
            <a:r>
              <a:t>6. Write a brief summary: What factors matter? Any interactions?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